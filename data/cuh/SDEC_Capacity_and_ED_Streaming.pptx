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heme/theme2.xml" ContentType="application/vnd.openxmlformats-officedocument.theme+xml"/>
  <Override PartName="/ppt/tags/tag155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omments/modernComment_112_625DF719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5"/>
  </p:sldMasterIdLst>
  <p:notesMasterIdLst>
    <p:notesMasterId r:id="rId12"/>
  </p:notesMasterIdLst>
  <p:sldIdLst>
    <p:sldId id="257" r:id="rId6"/>
    <p:sldId id="284" r:id="rId7"/>
    <p:sldId id="299" r:id="rId8"/>
    <p:sldId id="300" r:id="rId9"/>
    <p:sldId id="263" r:id="rId10"/>
    <p:sldId id="274" r:id="rId1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68D7EAF-656F-3A5F-EBA9-5675A63D5C40}" name="Yasmin Peiris" initials="YP" userId="S::yasminpeiris@moorhouseconsulting.com::5699831a-6f51-4768-a4a9-22bcafccfb12" providerId="AD"/>
  <p188:author id="{058F09D3-2583-B45A-4D08-3646A79A024E}" name="Yasmin Peiris" initials="YP" userId="S::YasminPeiris@moorhouseconsulting.com::5699831a-6f51-4768-a4a9-22bcafccfb12" providerId="AD"/>
  <p188:author id="{521693D5-4692-5198-6098-03909FCABB34}" name="Joelan Iveson" initials="JI" userId="S::joelaniveson@moorhouseconsulting.com::479f4180-0dac-45bf-8b79-d6f9a400bda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F2F2F2"/>
    <a:srgbClr val="F0F9F5"/>
    <a:srgbClr val="1D9A78"/>
    <a:srgbClr val="E7F0EC"/>
    <a:srgbClr val="CCD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9CA0F2-ABAE-6C46-B78E-DBC20FFAE382}" v="65" dt="2026-07-16T11:26:47.2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73"/>
    <p:restoredTop sz="95997"/>
  </p:normalViewPr>
  <p:slideViewPr>
    <p:cSldViewPr snapToGrid="0" showGuides="1">
      <p:cViewPr varScale="1">
        <p:scale>
          <a:sx n="123" d="100"/>
          <a:sy n="123" d="100"/>
        </p:scale>
        <p:origin x="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4096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microsoft.com/office/2018/10/relationships/authors" Target="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Gavzey" userId="c48304ab-2ad0-4009-a169-69654b5d3db8" providerId="ADAL" clId="{9E151AA8-0F4B-54E7-B06E-0AA15DDC3FEE}"/>
    <pc:docChg chg="custSel addSld delSld modSld">
      <pc:chgData name="Joshua Gavzey" userId="c48304ab-2ad0-4009-a169-69654b5d3db8" providerId="ADAL" clId="{9E151AA8-0F4B-54E7-B06E-0AA15DDC3FEE}" dt="2026-07-22T14:01:16.643" v="217" actId="20577"/>
      <pc:docMkLst>
        <pc:docMk/>
      </pc:docMkLst>
      <pc:sldChg chg="modSp mod">
        <pc:chgData name="Joshua Gavzey" userId="c48304ab-2ad0-4009-a169-69654b5d3db8" providerId="ADAL" clId="{9E151AA8-0F4B-54E7-B06E-0AA15DDC3FEE}" dt="2026-07-22T14:01:16.643" v="217" actId="20577"/>
        <pc:sldMkLst>
          <pc:docMk/>
          <pc:sldMk cId="0" sldId="263"/>
        </pc:sldMkLst>
        <pc:spChg chg="mod">
          <ac:chgData name="Joshua Gavzey" userId="c48304ab-2ad0-4009-a169-69654b5d3db8" providerId="ADAL" clId="{9E151AA8-0F4B-54E7-B06E-0AA15DDC3FEE}" dt="2026-07-22T14:01:16.643" v="217" actId="20577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Joshua Gavzey" userId="c48304ab-2ad0-4009-a169-69654b5d3db8" providerId="ADAL" clId="{9E151AA8-0F4B-54E7-B06E-0AA15DDC3FEE}" dt="2026-07-16T11:26:47.234" v="51" actId="20577"/>
        <pc:sldMkLst>
          <pc:docMk/>
          <pc:sldMk cId="3747681611" sldId="284"/>
        </pc:sldMkLst>
        <pc:spChg chg="mod">
          <ac:chgData name="Joshua Gavzey" userId="c48304ab-2ad0-4009-a169-69654b5d3db8" providerId="ADAL" clId="{9E151AA8-0F4B-54E7-B06E-0AA15DDC3FEE}" dt="2026-07-16T11:26:47.234" v="51" actId="20577"/>
          <ac:spMkLst>
            <pc:docMk/>
            <pc:sldMk cId="3747681611" sldId="284"/>
            <ac:spMk id="5" creationId="{00000000-0000-0000-0000-000000000000}"/>
          </ac:spMkLst>
        </pc:spChg>
      </pc:sldChg>
      <pc:sldChg chg="add">
        <pc:chgData name="Joshua Gavzey" userId="c48304ab-2ad0-4009-a169-69654b5d3db8" providerId="ADAL" clId="{9E151AA8-0F4B-54E7-B06E-0AA15DDC3FEE}" dt="2026-07-16T11:22:46.624" v="46"/>
        <pc:sldMkLst>
          <pc:docMk/>
          <pc:sldMk cId="1103163348" sldId="299"/>
        </pc:sldMkLst>
      </pc:sldChg>
      <pc:sldChg chg="modSp add mod">
        <pc:chgData name="Joshua Gavzey" userId="c48304ab-2ad0-4009-a169-69654b5d3db8" providerId="ADAL" clId="{9E151AA8-0F4B-54E7-B06E-0AA15DDC3FEE}" dt="2026-07-16T11:22:54.101" v="50"/>
        <pc:sldMkLst>
          <pc:docMk/>
          <pc:sldMk cId="3938053314" sldId="300"/>
        </pc:sldMkLst>
        <pc:spChg chg="mod">
          <ac:chgData name="Joshua Gavzey" userId="c48304ab-2ad0-4009-a169-69654b5d3db8" providerId="ADAL" clId="{9E151AA8-0F4B-54E7-B06E-0AA15DDC3FEE}" dt="2026-07-16T11:22:54.101" v="50"/>
          <ac:spMkLst>
            <pc:docMk/>
            <pc:sldMk cId="3938053314" sldId="300"/>
            <ac:spMk id="5" creationId="{00000000-0000-0000-0000-000000000000}"/>
          </ac:spMkLst>
        </pc:spChg>
      </pc:sldChg>
    </pc:docChg>
  </pc:docChgLst>
  <pc:docChgLst>
    <pc:chgData name="Yasmin Peiris" userId="5699831a-6f51-4768-a4a9-22bcafccfb12" providerId="ADAL" clId="{19FF6EE3-BF61-5179-8CC9-5AA6F710814A}"/>
    <pc:docChg chg="modSld">
      <pc:chgData name="Yasmin Peiris" userId="5699831a-6f51-4768-a4a9-22bcafccfb12" providerId="ADAL" clId="{19FF6EE3-BF61-5179-8CC9-5AA6F710814A}" dt="2026-07-15T11:50:52.929" v="1" actId="20577"/>
      <pc:docMkLst>
        <pc:docMk/>
      </pc:docMkLst>
      <pc:sldChg chg="modSp mod">
        <pc:chgData name="Yasmin Peiris" userId="5699831a-6f51-4768-a4a9-22bcafccfb12" providerId="ADAL" clId="{19FF6EE3-BF61-5179-8CC9-5AA6F710814A}" dt="2026-07-15T11:50:52.929" v="1" actId="20577"/>
        <pc:sldMkLst>
          <pc:docMk/>
          <pc:sldMk cId="1650325273" sldId="274"/>
        </pc:sldMkLst>
        <pc:spChg chg="mod">
          <ac:chgData name="Yasmin Peiris" userId="5699831a-6f51-4768-a4a9-22bcafccfb12" providerId="ADAL" clId="{19FF6EE3-BF61-5179-8CC9-5AA6F710814A}" dt="2026-07-15T11:50:52.929" v="1" actId="20577"/>
          <ac:spMkLst>
            <pc:docMk/>
            <pc:sldMk cId="1650325273" sldId="274"/>
            <ac:spMk id="7" creationId="{8A141CFF-2B5B-6210-7C2A-9573E066169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https://moorhousec.sharepoint.com/sites/CUHFlowProgramme2/Shared%20Documents/Phase%202/05_Workstreams/05_Cross-Cutting/Pilot%20A%20Tracking/Pilot%20Tracking%20Tool_v1.1_buil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rgbClr val="1A1A1A"/>
                </a:solidFill>
                <a:latin typeface="Arial"/>
              </a:defRPr>
            </a:pPr>
            <a:r>
              <a:rPr lang="en-GB" sz="1600" b="1">
                <a:solidFill>
                  <a:srgbClr val="1A1A1A"/>
                </a:solidFill>
                <a:latin typeface="Arial"/>
              </a:rPr>
              <a:t>SDEC attendances &amp; conversion rate, Jun–Jul 2026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SDEC!$D$6</c:f>
              <c:strCache>
                <c:ptCount val="1"/>
                <c:pt idx="0">
                  <c:v>SDEC attendances (count)</c:v>
                </c:pt>
              </c:strCache>
            </c:strRef>
          </c:tx>
          <c:spPr>
            <a:ln w="15875" cap="rnd">
              <a:solidFill>
                <a:schemeClr val="accent1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SDEC!$L$5:$AT$5</c:f>
              <c:numCache>
                <c:formatCode>m/d/yy</c:formatCode>
                <c:ptCount val="35"/>
                <c:pt idx="0">
                  <c:v>46174</c:v>
                </c:pt>
                <c:pt idx="1">
                  <c:v>46175</c:v>
                </c:pt>
                <c:pt idx="2">
                  <c:v>46176</c:v>
                </c:pt>
                <c:pt idx="3">
                  <c:v>46177</c:v>
                </c:pt>
                <c:pt idx="4">
                  <c:v>46178</c:v>
                </c:pt>
                <c:pt idx="5">
                  <c:v>46179</c:v>
                </c:pt>
                <c:pt idx="6">
                  <c:v>46180</c:v>
                </c:pt>
                <c:pt idx="7">
                  <c:v>46181</c:v>
                </c:pt>
                <c:pt idx="8">
                  <c:v>46182</c:v>
                </c:pt>
                <c:pt idx="9">
                  <c:v>46183</c:v>
                </c:pt>
                <c:pt idx="10">
                  <c:v>46184</c:v>
                </c:pt>
                <c:pt idx="11">
                  <c:v>46185</c:v>
                </c:pt>
                <c:pt idx="12">
                  <c:v>46186</c:v>
                </c:pt>
                <c:pt idx="13">
                  <c:v>46187</c:v>
                </c:pt>
                <c:pt idx="14">
                  <c:v>46188</c:v>
                </c:pt>
                <c:pt idx="15">
                  <c:v>46189</c:v>
                </c:pt>
                <c:pt idx="16">
                  <c:v>46190</c:v>
                </c:pt>
                <c:pt idx="17">
                  <c:v>46191</c:v>
                </c:pt>
                <c:pt idx="18">
                  <c:v>46192</c:v>
                </c:pt>
                <c:pt idx="19">
                  <c:v>46193</c:v>
                </c:pt>
                <c:pt idx="20">
                  <c:v>46194</c:v>
                </c:pt>
                <c:pt idx="21">
                  <c:v>46195</c:v>
                </c:pt>
                <c:pt idx="22">
                  <c:v>46196</c:v>
                </c:pt>
                <c:pt idx="23">
                  <c:v>46197</c:v>
                </c:pt>
                <c:pt idx="24">
                  <c:v>46198</c:v>
                </c:pt>
                <c:pt idx="25">
                  <c:v>46199</c:v>
                </c:pt>
                <c:pt idx="26">
                  <c:v>46200</c:v>
                </c:pt>
                <c:pt idx="27">
                  <c:v>46201</c:v>
                </c:pt>
                <c:pt idx="28">
                  <c:v>46202</c:v>
                </c:pt>
                <c:pt idx="29">
                  <c:v>46203</c:v>
                </c:pt>
                <c:pt idx="30">
                  <c:v>46204</c:v>
                </c:pt>
                <c:pt idx="31">
                  <c:v>46205</c:v>
                </c:pt>
                <c:pt idx="32">
                  <c:v>46206</c:v>
                </c:pt>
                <c:pt idx="33">
                  <c:v>46207</c:v>
                </c:pt>
                <c:pt idx="34">
                  <c:v>46208</c:v>
                </c:pt>
              </c:numCache>
            </c:numRef>
          </c:cat>
          <c:val>
            <c:numRef>
              <c:f>SDEC!$L$6:$AT$6</c:f>
              <c:numCache>
                <c:formatCode>0</c:formatCode>
                <c:ptCount val="35"/>
                <c:pt idx="0">
                  <c:v>187</c:v>
                </c:pt>
                <c:pt idx="1">
                  <c:v>219</c:v>
                </c:pt>
                <c:pt idx="2">
                  <c:v>219</c:v>
                </c:pt>
                <c:pt idx="3">
                  <c:v>206</c:v>
                </c:pt>
                <c:pt idx="4">
                  <c:v>189</c:v>
                </c:pt>
                <c:pt idx="5">
                  <c:v>66</c:v>
                </c:pt>
                <c:pt idx="6">
                  <c:v>72</c:v>
                </c:pt>
                <c:pt idx="7">
                  <c:v>208</c:v>
                </c:pt>
                <c:pt idx="8">
                  <c:v>214</c:v>
                </c:pt>
                <c:pt idx="9">
                  <c:v>168</c:v>
                </c:pt>
                <c:pt idx="10">
                  <c:v>172</c:v>
                </c:pt>
                <c:pt idx="11">
                  <c:v>178</c:v>
                </c:pt>
                <c:pt idx="12">
                  <c:v>77</c:v>
                </c:pt>
                <c:pt idx="13">
                  <c:v>68</c:v>
                </c:pt>
                <c:pt idx="14">
                  <c:v>200</c:v>
                </c:pt>
                <c:pt idx="15">
                  <c:v>196</c:v>
                </c:pt>
                <c:pt idx="16">
                  <c:v>185</c:v>
                </c:pt>
                <c:pt idx="17">
                  <c:v>188</c:v>
                </c:pt>
                <c:pt idx="18">
                  <c:v>189</c:v>
                </c:pt>
                <c:pt idx="19">
                  <c:v>79</c:v>
                </c:pt>
                <c:pt idx="20">
                  <c:v>58</c:v>
                </c:pt>
                <c:pt idx="21">
                  <c:v>219</c:v>
                </c:pt>
                <c:pt idx="22">
                  <c:v>203</c:v>
                </c:pt>
                <c:pt idx="23">
                  <c:v>208</c:v>
                </c:pt>
                <c:pt idx="24">
                  <c:v>165</c:v>
                </c:pt>
                <c:pt idx="25">
                  <c:v>164</c:v>
                </c:pt>
                <c:pt idx="26">
                  <c:v>81</c:v>
                </c:pt>
                <c:pt idx="27">
                  <c:v>72</c:v>
                </c:pt>
                <c:pt idx="28">
                  <c:v>214</c:v>
                </c:pt>
                <c:pt idx="29">
                  <c:v>213</c:v>
                </c:pt>
                <c:pt idx="30">
                  <c:v>193</c:v>
                </c:pt>
                <c:pt idx="31">
                  <c:v>195</c:v>
                </c:pt>
                <c:pt idx="32">
                  <c:v>197</c:v>
                </c:pt>
                <c:pt idx="33">
                  <c:v>76</c:v>
                </c:pt>
                <c:pt idx="34">
                  <c:v>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15-BB4B-AFD4-4F4E29F199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66697472"/>
        <c:axId val="1639467200"/>
      </c:lineChart>
      <c:lineChart>
        <c:grouping val="standard"/>
        <c:varyColors val="0"/>
        <c:ser>
          <c:idx val="1"/>
          <c:order val="1"/>
          <c:tx>
            <c:strRef>
              <c:f>SDEC!$D$8</c:f>
              <c:strCache>
                <c:ptCount val="1"/>
                <c:pt idx="0">
                  <c:v>Conversion rate (Type 1 → SDEC)</c:v>
                </c:pt>
              </c:strCache>
            </c:strRef>
          </c:tx>
          <c:spPr>
            <a:ln w="158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SDEC!$L$5:$AT$5</c:f>
              <c:numCache>
                <c:formatCode>m/d/yy</c:formatCode>
                <c:ptCount val="35"/>
                <c:pt idx="0">
                  <c:v>46174</c:v>
                </c:pt>
                <c:pt idx="1">
                  <c:v>46175</c:v>
                </c:pt>
                <c:pt idx="2">
                  <c:v>46176</c:v>
                </c:pt>
                <c:pt idx="3">
                  <c:v>46177</c:v>
                </c:pt>
                <c:pt idx="4">
                  <c:v>46178</c:v>
                </c:pt>
                <c:pt idx="5">
                  <c:v>46179</c:v>
                </c:pt>
                <c:pt idx="6">
                  <c:v>46180</c:v>
                </c:pt>
                <c:pt idx="7">
                  <c:v>46181</c:v>
                </c:pt>
                <c:pt idx="8">
                  <c:v>46182</c:v>
                </c:pt>
                <c:pt idx="9">
                  <c:v>46183</c:v>
                </c:pt>
                <c:pt idx="10">
                  <c:v>46184</c:v>
                </c:pt>
                <c:pt idx="11">
                  <c:v>46185</c:v>
                </c:pt>
                <c:pt idx="12">
                  <c:v>46186</c:v>
                </c:pt>
                <c:pt idx="13">
                  <c:v>46187</c:v>
                </c:pt>
                <c:pt idx="14">
                  <c:v>46188</c:v>
                </c:pt>
                <c:pt idx="15">
                  <c:v>46189</c:v>
                </c:pt>
                <c:pt idx="16">
                  <c:v>46190</c:v>
                </c:pt>
                <c:pt idx="17">
                  <c:v>46191</c:v>
                </c:pt>
                <c:pt idx="18">
                  <c:v>46192</c:v>
                </c:pt>
                <c:pt idx="19">
                  <c:v>46193</c:v>
                </c:pt>
                <c:pt idx="20">
                  <c:v>46194</c:v>
                </c:pt>
                <c:pt idx="21">
                  <c:v>46195</c:v>
                </c:pt>
                <c:pt idx="22">
                  <c:v>46196</c:v>
                </c:pt>
                <c:pt idx="23">
                  <c:v>46197</c:v>
                </c:pt>
                <c:pt idx="24">
                  <c:v>46198</c:v>
                </c:pt>
                <c:pt idx="25">
                  <c:v>46199</c:v>
                </c:pt>
                <c:pt idx="26">
                  <c:v>46200</c:v>
                </c:pt>
                <c:pt idx="27">
                  <c:v>46201</c:v>
                </c:pt>
                <c:pt idx="28">
                  <c:v>46202</c:v>
                </c:pt>
                <c:pt idx="29">
                  <c:v>46203</c:v>
                </c:pt>
                <c:pt idx="30">
                  <c:v>46204</c:v>
                </c:pt>
                <c:pt idx="31">
                  <c:v>46205</c:v>
                </c:pt>
                <c:pt idx="32">
                  <c:v>46206</c:v>
                </c:pt>
                <c:pt idx="33">
                  <c:v>46207</c:v>
                </c:pt>
                <c:pt idx="34">
                  <c:v>46208</c:v>
                </c:pt>
              </c:numCache>
            </c:numRef>
          </c:cat>
          <c:val>
            <c:numRef>
              <c:f>SDEC!$L$8:$AT$8</c:f>
              <c:numCache>
                <c:formatCode>0.0%</c:formatCode>
                <c:ptCount val="35"/>
                <c:pt idx="0">
                  <c:v>0.15714285714285711</c:v>
                </c:pt>
                <c:pt idx="1">
                  <c:v>0.15898617511520741</c:v>
                </c:pt>
                <c:pt idx="2">
                  <c:v>0.20985010706638119</c:v>
                </c:pt>
                <c:pt idx="3">
                  <c:v>0.19756097560975611</c:v>
                </c:pt>
                <c:pt idx="4">
                  <c:v>0.1994750656167979</c:v>
                </c:pt>
                <c:pt idx="5">
                  <c:v>0.19154929577464791</c:v>
                </c:pt>
                <c:pt idx="6">
                  <c:v>0.16279069767441859</c:v>
                </c:pt>
                <c:pt idx="7">
                  <c:v>0.2040816326530612</c:v>
                </c:pt>
                <c:pt idx="8">
                  <c:v>0.20246913580246911</c:v>
                </c:pt>
                <c:pt idx="9">
                  <c:v>0.17346938775510201</c:v>
                </c:pt>
                <c:pt idx="10">
                  <c:v>0.16802168021680219</c:v>
                </c:pt>
                <c:pt idx="11">
                  <c:v>0.1717948717948718</c:v>
                </c:pt>
                <c:pt idx="12">
                  <c:v>0.15714285714285711</c:v>
                </c:pt>
                <c:pt idx="13">
                  <c:v>0.1348314606741573</c:v>
                </c:pt>
                <c:pt idx="14">
                  <c:v>0.18736383442265789</c:v>
                </c:pt>
                <c:pt idx="15">
                  <c:v>0.2299107142857143</c:v>
                </c:pt>
                <c:pt idx="16">
                  <c:v>0.19239904988123521</c:v>
                </c:pt>
                <c:pt idx="17">
                  <c:v>0.2227722772277228</c:v>
                </c:pt>
                <c:pt idx="18">
                  <c:v>0.18614718614718609</c:v>
                </c:pt>
                <c:pt idx="19">
                  <c:v>0.1825</c:v>
                </c:pt>
                <c:pt idx="20">
                  <c:v>0.1815642458100559</c:v>
                </c:pt>
                <c:pt idx="21">
                  <c:v>0.19026548672566371</c:v>
                </c:pt>
                <c:pt idx="22">
                  <c:v>0.20289855072463769</c:v>
                </c:pt>
                <c:pt idx="23">
                  <c:v>0.1941747572815534</c:v>
                </c:pt>
                <c:pt idx="24">
                  <c:v>0.20725388601036271</c:v>
                </c:pt>
                <c:pt idx="25">
                  <c:v>0.16879795396419439</c:v>
                </c:pt>
                <c:pt idx="26">
                  <c:v>0.17567567567567571</c:v>
                </c:pt>
                <c:pt idx="27">
                  <c:v>0.17632241813602009</c:v>
                </c:pt>
                <c:pt idx="28">
                  <c:v>0.20883534136546181</c:v>
                </c:pt>
                <c:pt idx="29">
                  <c:v>0.16044776119402979</c:v>
                </c:pt>
                <c:pt idx="30">
                  <c:v>0.18721461187214611</c:v>
                </c:pt>
                <c:pt idx="31">
                  <c:v>0.19211822660098521</c:v>
                </c:pt>
                <c:pt idx="32">
                  <c:v>0.18393782383419691</c:v>
                </c:pt>
                <c:pt idx="33">
                  <c:v>0.2087912087912088</c:v>
                </c:pt>
                <c:pt idx="34">
                  <c:v>0.18475073313782989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15-BB4B-AFD4-4F4E29F199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45775936"/>
        <c:axId val="1945769664"/>
      </c:lineChart>
      <c:dateAx>
        <c:axId val="1466697472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9467200"/>
        <c:crosses val="autoZero"/>
        <c:auto val="1"/>
        <c:lblOffset val="100"/>
        <c:baseTimeUnit val="days"/>
        <c:majorUnit val="7"/>
        <c:majorTimeUnit val="days"/>
      </c:dateAx>
      <c:valAx>
        <c:axId val="1639467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6697472"/>
        <c:crosses val="autoZero"/>
        <c:crossBetween val="between"/>
      </c:valAx>
      <c:valAx>
        <c:axId val="1945769664"/>
        <c:scaling>
          <c:orientation val="minMax"/>
        </c:scaling>
        <c:delete val="0"/>
        <c:axPos val="r"/>
        <c:numFmt formatCode="0.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5775936"/>
        <c:crosses val="max"/>
        <c:crossBetween val="between"/>
      </c:valAx>
      <c:dateAx>
        <c:axId val="1945775936"/>
        <c:scaling>
          <c:orientation val="minMax"/>
        </c:scaling>
        <c:delete val="1"/>
        <c:axPos val="b"/>
        <c:numFmt formatCode="m/d/yy" sourceLinked="1"/>
        <c:majorTickMark val="out"/>
        <c:minorTickMark val="none"/>
        <c:tickLblPos val="nextTo"/>
        <c:crossAx val="1945769664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5A5F63"/>
                </a:solidFill>
                <a:latin typeface="Arial"/>
              </a:defRPr>
            </a:pPr>
            <a:r>
              <a:rPr lang="en-GB" sz="1600" b="1">
                <a:solidFill>
                  <a:srgbClr val="5A5F63"/>
                </a:solidFill>
                <a:latin typeface="Arial"/>
              </a:rPr>
              <a:t>Avg % of stated capacity occupied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Average occupied</c:v>
          </c:tx>
          <c:invertIfNegative val="1"/>
          <c:dPt>
            <c:idx val="0"/>
            <c:invertIfNegative val="1"/>
            <c:bubble3D val="0"/>
            <c:spPr>
              <a:solidFill>
                <a:srgbClr val="F19D19"/>
              </a:solidFill>
            </c:spPr>
            <c:extLst>
              <c:ext xmlns:c16="http://schemas.microsoft.com/office/drawing/2014/chart" uri="{C3380CC4-5D6E-409C-BE32-E72D297353CC}">
                <c16:uniqueId val="{00000001-018F-9C42-8A3E-18F6E70A72EF}"/>
              </c:ext>
            </c:extLst>
          </c:dPt>
          <c:dPt>
            <c:idx val="1"/>
            <c:invertIfNegative val="1"/>
            <c:bubble3D val="0"/>
            <c:spPr>
              <a:solidFill>
                <a:srgbClr val="0067A4"/>
              </a:solidFill>
            </c:spPr>
            <c:extLst>
              <c:ext xmlns:c16="http://schemas.microsoft.com/office/drawing/2014/chart" uri="{C3380CC4-5D6E-409C-BE32-E72D297353CC}">
                <c16:uniqueId val="{00000003-018F-9C42-8A3E-18F6E70A72EF}"/>
              </c:ext>
            </c:extLst>
          </c:dPt>
          <c:dPt>
            <c:idx val="2"/>
            <c:invertIfNegative val="1"/>
            <c:bubble3D val="0"/>
            <c:spPr>
              <a:solidFill>
                <a:srgbClr val="1D9A78"/>
              </a:solidFill>
            </c:spPr>
            <c:extLst>
              <c:ext xmlns:c16="http://schemas.microsoft.com/office/drawing/2014/chart" uri="{C3380CC4-5D6E-409C-BE32-E72D297353CC}">
                <c16:uniqueId val="{00000005-018F-9C42-8A3E-18F6E70A72EF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A1A1A"/>
                    </a:solidFill>
                    <a:latin typeface="Arial"/>
                  </a:defRPr>
                </a:pPr>
                <a:endParaRPr lang="en-GB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EAU4 (cap 28)</c:v>
              </c:pt>
              <c:pt idx="1">
                <c:v>EAU3 (core 26)</c:v>
              </c:pt>
              <c:pt idx="2">
                <c:v>SAU (cap 30)</c:v>
              </c:pt>
            </c:strLit>
          </c:cat>
          <c:val>
            <c:numLit>
              <c:formatCode>General</c:formatCode>
              <c:ptCount val="3"/>
              <c:pt idx="0">
                <c:v>94</c:v>
              </c:pt>
              <c:pt idx="1">
                <c:v>55</c:v>
              </c:pt>
              <c:pt idx="2">
                <c:v>35</c:v>
              </c:pt>
            </c:numLit>
          </c:val>
          <c:extLst>
            <c:ext xmlns:c16="http://schemas.microsoft.com/office/drawing/2014/chart" uri="{C3380CC4-5D6E-409C-BE32-E72D297353CC}">
              <c16:uniqueId val="{00000006-018F-9C42-8A3E-18F6E70A72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5A5F63"/>
                </a:solidFill>
                <a:latin typeface="Arial"/>
              </a:defRPr>
            </a:pPr>
            <a:endParaRPr lang="en-GB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00"/>
          <c:min val="0"/>
        </c:scaling>
        <c:delete val="0"/>
        <c:axPos val="b"/>
        <c:majorGridlines>
          <c:spPr>
            <a:ln w="6350">
              <a:solidFill>
                <a:srgbClr val="E3E5E5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A5F63"/>
                </a:solidFill>
                <a:latin typeface="Arial"/>
              </a:defRPr>
            </a:pPr>
            <a:endParaRPr lang="en-GB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400" b="1">
                <a:solidFill>
                  <a:srgbClr val="5A5F63"/>
                </a:solidFill>
                <a:latin typeface="Arial"/>
              </a:defRPr>
            </a:pPr>
            <a:r>
              <a:rPr lang="en-GB" sz="1400" b="1">
                <a:solidFill>
                  <a:srgbClr val="5A5F63"/>
                </a:solidFill>
                <a:latin typeface="Arial"/>
              </a:rPr>
              <a:t>Average chairs occupied by hour of day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EAU3 average occupied</c:v>
          </c:tx>
          <c:spPr>
            <a:ln w="25400" cap="rnd">
              <a:solidFill>
                <a:srgbClr val="0067A4"/>
              </a:solidFill>
              <a:round/>
            </a:ln>
            <a:effectLst/>
          </c:spPr>
          <c:marker>
            <c:symbol val="none"/>
          </c:marker>
          <c:cat>
            <c:strLit>
              <c:ptCount val="24"/>
              <c:pt idx="0">
                <c:v>00:00</c:v>
              </c:pt>
              <c:pt idx="1">
                <c:v>01:00</c:v>
              </c:pt>
              <c:pt idx="2">
                <c:v>02:00</c:v>
              </c:pt>
              <c:pt idx="3">
                <c:v>03:00</c:v>
              </c:pt>
              <c:pt idx="4">
                <c:v>04:00</c:v>
              </c:pt>
              <c:pt idx="5">
                <c:v>05:00</c:v>
              </c:pt>
              <c:pt idx="6">
                <c:v>06:00</c:v>
              </c:pt>
              <c:pt idx="7">
                <c:v>07:00</c:v>
              </c:pt>
              <c:pt idx="8">
                <c:v>08:00</c:v>
              </c:pt>
              <c:pt idx="9">
                <c:v>09:00</c:v>
              </c:pt>
              <c:pt idx="10">
                <c:v>10:00</c:v>
              </c:pt>
              <c:pt idx="11">
                <c:v>11:00</c:v>
              </c:pt>
              <c:pt idx="12">
                <c:v>12:00</c:v>
              </c:pt>
              <c:pt idx="13">
                <c:v>13:00</c:v>
              </c:pt>
              <c:pt idx="14">
                <c:v>14:00</c:v>
              </c:pt>
              <c:pt idx="15">
                <c:v>15:00</c:v>
              </c:pt>
              <c:pt idx="16">
                <c:v>16:00</c:v>
              </c:pt>
              <c:pt idx="17">
                <c:v>17:00</c:v>
              </c:pt>
              <c:pt idx="18">
                <c:v>18:00</c:v>
              </c:pt>
              <c:pt idx="19">
                <c:v>19:00</c:v>
              </c:pt>
              <c:pt idx="20">
                <c:v>20:00</c:v>
              </c:pt>
              <c:pt idx="21">
                <c:v>21:00</c:v>
              </c:pt>
              <c:pt idx="22">
                <c:v>22:00</c:v>
              </c:pt>
              <c:pt idx="23">
                <c:v>23:00</c:v>
              </c:pt>
            </c:strLit>
          </c:cat>
          <c:val>
            <c:numLit>
              <c:formatCode>0</c:formatCode>
              <c:ptCount val="24"/>
              <c:pt idx="0">
                <c:v>13.7</c:v>
              </c:pt>
              <c:pt idx="1">
                <c:v>13.3</c:v>
              </c:pt>
              <c:pt idx="2">
                <c:v>12.8</c:v>
              </c:pt>
              <c:pt idx="3">
                <c:v>12.7</c:v>
              </c:pt>
              <c:pt idx="4">
                <c:v>12.5</c:v>
              </c:pt>
              <c:pt idx="5">
                <c:v>12</c:v>
              </c:pt>
              <c:pt idx="6">
                <c:v>11.6</c:v>
              </c:pt>
              <c:pt idx="7">
                <c:v>11.1</c:v>
              </c:pt>
              <c:pt idx="8">
                <c:v>10.6</c:v>
              </c:pt>
              <c:pt idx="9">
                <c:v>11</c:v>
              </c:pt>
              <c:pt idx="10">
                <c:v>11.8</c:v>
              </c:pt>
              <c:pt idx="11">
                <c:v>12.7</c:v>
              </c:pt>
              <c:pt idx="12">
                <c:v>14.2</c:v>
              </c:pt>
              <c:pt idx="13">
                <c:v>15.9</c:v>
              </c:pt>
              <c:pt idx="14">
                <c:v>16.8</c:v>
              </c:pt>
              <c:pt idx="15">
                <c:v>17.5</c:v>
              </c:pt>
              <c:pt idx="16">
                <c:v>17.899999999999999</c:v>
              </c:pt>
              <c:pt idx="17">
                <c:v>17.8</c:v>
              </c:pt>
              <c:pt idx="18">
                <c:v>17.899999999999999</c:v>
              </c:pt>
              <c:pt idx="19">
                <c:v>17</c:v>
              </c:pt>
              <c:pt idx="20">
                <c:v>15.9</c:v>
              </c:pt>
              <c:pt idx="21">
                <c:v>15.3</c:v>
              </c:pt>
              <c:pt idx="22">
                <c:v>14.8</c:v>
              </c:pt>
              <c:pt idx="23">
                <c:v>14.5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F7F6-3D49-8775-D881D3976598}"/>
            </c:ext>
          </c:extLst>
        </c:ser>
        <c:ser>
          <c:idx val="1"/>
          <c:order val="1"/>
          <c:tx>
            <c:v>Core capacity (26)</c:v>
          </c:tx>
          <c:spPr>
            <a:ln w="15875" cap="rnd">
              <a:solidFill>
                <a:srgbClr val="8A8F93"/>
              </a:solidFill>
              <a:prstDash val="sysDot"/>
            </a:ln>
            <a:effectLst/>
          </c:spPr>
          <c:marker>
            <c:symbol val="none"/>
          </c:marker>
          <c:cat>
            <c:strLit>
              <c:ptCount val="24"/>
              <c:pt idx="0">
                <c:v>00:00</c:v>
              </c:pt>
              <c:pt idx="1">
                <c:v>01:00</c:v>
              </c:pt>
              <c:pt idx="2">
                <c:v>02:00</c:v>
              </c:pt>
              <c:pt idx="3">
                <c:v>03:00</c:v>
              </c:pt>
              <c:pt idx="4">
                <c:v>04:00</c:v>
              </c:pt>
              <c:pt idx="5">
                <c:v>05:00</c:v>
              </c:pt>
              <c:pt idx="6">
                <c:v>06:00</c:v>
              </c:pt>
              <c:pt idx="7">
                <c:v>07:00</c:v>
              </c:pt>
              <c:pt idx="8">
                <c:v>08:00</c:v>
              </c:pt>
              <c:pt idx="9">
                <c:v>09:00</c:v>
              </c:pt>
              <c:pt idx="10">
                <c:v>10:00</c:v>
              </c:pt>
              <c:pt idx="11">
                <c:v>11:00</c:v>
              </c:pt>
              <c:pt idx="12">
                <c:v>12:00</c:v>
              </c:pt>
              <c:pt idx="13">
                <c:v>13:00</c:v>
              </c:pt>
              <c:pt idx="14">
                <c:v>14:00</c:v>
              </c:pt>
              <c:pt idx="15">
                <c:v>15:00</c:v>
              </c:pt>
              <c:pt idx="16">
                <c:v>16:00</c:v>
              </c:pt>
              <c:pt idx="17">
                <c:v>17:00</c:v>
              </c:pt>
              <c:pt idx="18">
                <c:v>18:00</c:v>
              </c:pt>
              <c:pt idx="19">
                <c:v>19:00</c:v>
              </c:pt>
              <c:pt idx="20">
                <c:v>20:00</c:v>
              </c:pt>
              <c:pt idx="21">
                <c:v>21:00</c:v>
              </c:pt>
              <c:pt idx="22">
                <c:v>22:00</c:v>
              </c:pt>
              <c:pt idx="23">
                <c:v>23:00</c:v>
              </c:pt>
            </c:strLit>
          </c:cat>
          <c:val>
            <c:numLit>
              <c:formatCode>0</c:formatCode>
              <c:ptCount val="24"/>
              <c:pt idx="0">
                <c:v>26</c:v>
              </c:pt>
              <c:pt idx="1">
                <c:v>26</c:v>
              </c:pt>
              <c:pt idx="2">
                <c:v>26</c:v>
              </c:pt>
              <c:pt idx="3">
                <c:v>26</c:v>
              </c:pt>
              <c:pt idx="4">
                <c:v>26</c:v>
              </c:pt>
              <c:pt idx="5">
                <c:v>26</c:v>
              </c:pt>
              <c:pt idx="6">
                <c:v>26</c:v>
              </c:pt>
              <c:pt idx="7">
                <c:v>26</c:v>
              </c:pt>
              <c:pt idx="8">
                <c:v>26</c:v>
              </c:pt>
              <c:pt idx="9">
                <c:v>26</c:v>
              </c:pt>
              <c:pt idx="10">
                <c:v>26</c:v>
              </c:pt>
              <c:pt idx="11">
                <c:v>26</c:v>
              </c:pt>
              <c:pt idx="12">
                <c:v>26</c:v>
              </c:pt>
              <c:pt idx="13">
                <c:v>26</c:v>
              </c:pt>
              <c:pt idx="14">
                <c:v>26</c:v>
              </c:pt>
              <c:pt idx="15">
                <c:v>26</c:v>
              </c:pt>
              <c:pt idx="16">
                <c:v>26</c:v>
              </c:pt>
              <c:pt idx="17">
                <c:v>26</c:v>
              </c:pt>
              <c:pt idx="18">
                <c:v>26</c:v>
              </c:pt>
              <c:pt idx="19">
                <c:v>26</c:v>
              </c:pt>
              <c:pt idx="20">
                <c:v>26</c:v>
              </c:pt>
              <c:pt idx="21">
                <c:v>26</c:v>
              </c:pt>
              <c:pt idx="22">
                <c:v>26</c:v>
              </c:pt>
              <c:pt idx="23">
                <c:v>26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504D-8847-8660-A19218BD89B8}"/>
            </c:ext>
          </c:extLst>
        </c:ser>
        <c:ser>
          <c:idx val="2"/>
          <c:order val="2"/>
          <c:tx>
            <c:v>Extended capacity (30, extra staffing)</c:v>
          </c:tx>
          <c:spPr>
            <a:ln w="15875" cap="rnd">
              <a:solidFill>
                <a:srgbClr val="B74919"/>
              </a:solidFill>
              <a:prstDash val="sysDot"/>
            </a:ln>
            <a:effectLst/>
          </c:spPr>
          <c:marker>
            <c:symbol val="none"/>
          </c:marker>
          <c:cat>
            <c:strLit>
              <c:ptCount val="24"/>
              <c:pt idx="0">
                <c:v>00:00</c:v>
              </c:pt>
              <c:pt idx="1">
                <c:v>01:00</c:v>
              </c:pt>
              <c:pt idx="2">
                <c:v>02:00</c:v>
              </c:pt>
              <c:pt idx="3">
                <c:v>03:00</c:v>
              </c:pt>
              <c:pt idx="4">
                <c:v>04:00</c:v>
              </c:pt>
              <c:pt idx="5">
                <c:v>05:00</c:v>
              </c:pt>
              <c:pt idx="6">
                <c:v>06:00</c:v>
              </c:pt>
              <c:pt idx="7">
                <c:v>07:00</c:v>
              </c:pt>
              <c:pt idx="8">
                <c:v>08:00</c:v>
              </c:pt>
              <c:pt idx="9">
                <c:v>09:00</c:v>
              </c:pt>
              <c:pt idx="10">
                <c:v>10:00</c:v>
              </c:pt>
              <c:pt idx="11">
                <c:v>11:00</c:v>
              </c:pt>
              <c:pt idx="12">
                <c:v>12:00</c:v>
              </c:pt>
              <c:pt idx="13">
                <c:v>13:00</c:v>
              </c:pt>
              <c:pt idx="14">
                <c:v>14:00</c:v>
              </c:pt>
              <c:pt idx="15">
                <c:v>15:00</c:v>
              </c:pt>
              <c:pt idx="16">
                <c:v>16:00</c:v>
              </c:pt>
              <c:pt idx="17">
                <c:v>17:00</c:v>
              </c:pt>
              <c:pt idx="18">
                <c:v>18:00</c:v>
              </c:pt>
              <c:pt idx="19">
                <c:v>19:00</c:v>
              </c:pt>
              <c:pt idx="20">
                <c:v>20:00</c:v>
              </c:pt>
              <c:pt idx="21">
                <c:v>21:00</c:v>
              </c:pt>
              <c:pt idx="22">
                <c:v>22:00</c:v>
              </c:pt>
              <c:pt idx="23">
                <c:v>23:00</c:v>
              </c:pt>
            </c:strLit>
          </c:cat>
          <c:val>
            <c:numLit>
              <c:formatCode>0</c:formatCode>
              <c:ptCount val="24"/>
              <c:pt idx="0">
                <c:v>30</c:v>
              </c:pt>
              <c:pt idx="1">
                <c:v>30</c:v>
              </c:pt>
              <c:pt idx="2">
                <c:v>30</c:v>
              </c:pt>
              <c:pt idx="3">
                <c:v>30</c:v>
              </c:pt>
              <c:pt idx="4">
                <c:v>30</c:v>
              </c:pt>
              <c:pt idx="5">
                <c:v>30</c:v>
              </c:pt>
              <c:pt idx="6">
                <c:v>30</c:v>
              </c:pt>
              <c:pt idx="7">
                <c:v>30</c:v>
              </c:pt>
              <c:pt idx="8">
                <c:v>30</c:v>
              </c:pt>
              <c:pt idx="9">
                <c:v>30</c:v>
              </c:pt>
              <c:pt idx="10">
                <c:v>30</c:v>
              </c:pt>
              <c:pt idx="11">
                <c:v>30</c:v>
              </c:pt>
              <c:pt idx="12">
                <c:v>30</c:v>
              </c:pt>
              <c:pt idx="13">
                <c:v>30</c:v>
              </c:pt>
              <c:pt idx="14">
                <c:v>30</c:v>
              </c:pt>
              <c:pt idx="15">
                <c:v>30</c:v>
              </c:pt>
              <c:pt idx="16">
                <c:v>30</c:v>
              </c:pt>
              <c:pt idx="17">
                <c:v>30</c:v>
              </c:pt>
              <c:pt idx="18">
                <c:v>30</c:v>
              </c:pt>
              <c:pt idx="19">
                <c:v>30</c:v>
              </c:pt>
              <c:pt idx="20">
                <c:v>30</c:v>
              </c:pt>
              <c:pt idx="21">
                <c:v>30</c:v>
              </c:pt>
              <c:pt idx="22">
                <c:v>30</c:v>
              </c:pt>
              <c:pt idx="23">
                <c:v>30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504D-8847-8660-A19218BD89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5A5F63"/>
                </a:solidFill>
                <a:latin typeface="Arial"/>
              </a:defRPr>
            </a:pPr>
            <a:endParaRPr lang="en-GB"/>
          </a:p>
        </c:txPr>
        <c:crossAx val="2"/>
        <c:crosses val="autoZero"/>
        <c:auto val="1"/>
        <c:lblAlgn val="ctr"/>
        <c:lblOffset val="100"/>
        <c:tickLblSkip val="4"/>
        <c:tickMarkSkip val="4"/>
        <c:noMultiLvlLbl val="1"/>
      </c:catAx>
      <c:valAx>
        <c:axId val="2"/>
        <c:scaling>
          <c:orientation val="minMax"/>
          <c:max val="40"/>
          <c:min val="0"/>
        </c:scaling>
        <c:delete val="0"/>
        <c:axPos val="l"/>
        <c:majorGridlines>
          <c:spPr>
            <a:ln w="6350">
              <a:solidFill>
                <a:srgbClr val="E3E5E5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5F63"/>
                </a:solidFill>
                <a:latin typeface="Arial"/>
              </a:defRPr>
            </a:pPr>
            <a:endParaRPr lang="en-GB"/>
          </a:p>
        </c:txPr>
        <c:crossAx val="1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 sz="1000">
              <a:solidFill>
                <a:srgbClr val="5A5F63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400" b="1">
                <a:solidFill>
                  <a:srgbClr val="5A5F63"/>
                </a:solidFill>
                <a:latin typeface="Arial"/>
              </a:defRPr>
            </a:pPr>
            <a:r>
              <a:rPr lang="en-GB" sz="1400" b="1">
                <a:solidFill>
                  <a:srgbClr val="5A5F63"/>
                </a:solidFill>
                <a:latin typeface="Arial"/>
              </a:rPr>
              <a:t>Average trolleys occupied by hour of day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EAU4 average occupied</c:v>
          </c:tx>
          <c:spPr>
            <a:ln w="25400" cap="rnd">
              <a:solidFill>
                <a:srgbClr val="F19D19"/>
              </a:solidFill>
              <a:round/>
            </a:ln>
            <a:effectLst/>
          </c:spPr>
          <c:marker>
            <c:symbol val="none"/>
          </c:marker>
          <c:dLbls>
            <c:dLbl>
              <c:idx val="6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F19D19"/>
                        </a:solidFill>
                        <a:latin typeface="Arial"/>
                      </a:rPr>
                      <a:t>Peak 6:00 - 27 (98%)</a:t>
                    </a:r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AE2-9844-9DA1-9B570F4C41A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4"/>
              <c:pt idx="0">
                <c:v>00:00</c:v>
              </c:pt>
              <c:pt idx="1">
                <c:v>01:00</c:v>
              </c:pt>
              <c:pt idx="2">
                <c:v>02:00</c:v>
              </c:pt>
              <c:pt idx="3">
                <c:v>03:00</c:v>
              </c:pt>
              <c:pt idx="4">
                <c:v>04:00</c:v>
              </c:pt>
              <c:pt idx="5">
                <c:v>05:00</c:v>
              </c:pt>
              <c:pt idx="6">
                <c:v>06:00</c:v>
              </c:pt>
              <c:pt idx="7">
                <c:v>07:00</c:v>
              </c:pt>
              <c:pt idx="8">
                <c:v>08:00</c:v>
              </c:pt>
              <c:pt idx="9">
                <c:v>09:00</c:v>
              </c:pt>
              <c:pt idx="10">
                <c:v>10:00</c:v>
              </c:pt>
              <c:pt idx="11">
                <c:v>11:00</c:v>
              </c:pt>
              <c:pt idx="12">
                <c:v>12:00</c:v>
              </c:pt>
              <c:pt idx="13">
                <c:v>13:00</c:v>
              </c:pt>
              <c:pt idx="14">
                <c:v>14:00</c:v>
              </c:pt>
              <c:pt idx="15">
                <c:v>15:00</c:v>
              </c:pt>
              <c:pt idx="16">
                <c:v>16:00</c:v>
              </c:pt>
              <c:pt idx="17">
                <c:v>17:00</c:v>
              </c:pt>
              <c:pt idx="18">
                <c:v>18:00</c:v>
              </c:pt>
              <c:pt idx="19">
                <c:v>19:00</c:v>
              </c:pt>
              <c:pt idx="20">
                <c:v>20:00</c:v>
              </c:pt>
              <c:pt idx="21">
                <c:v>21:00</c:v>
              </c:pt>
              <c:pt idx="22">
                <c:v>22:00</c:v>
              </c:pt>
              <c:pt idx="23">
                <c:v>23:00</c:v>
              </c:pt>
            </c:strLit>
          </c:cat>
          <c:val>
            <c:numLit>
              <c:formatCode>0</c:formatCode>
              <c:ptCount val="24"/>
              <c:pt idx="0">
                <c:v>26.3</c:v>
              </c:pt>
              <c:pt idx="1">
                <c:v>26</c:v>
              </c:pt>
              <c:pt idx="2">
                <c:v>26</c:v>
              </c:pt>
              <c:pt idx="3">
                <c:v>26</c:v>
              </c:pt>
              <c:pt idx="4">
                <c:v>26.3</c:v>
              </c:pt>
              <c:pt idx="5">
                <c:v>26.9</c:v>
              </c:pt>
              <c:pt idx="6">
                <c:v>27.4</c:v>
              </c:pt>
              <c:pt idx="7">
                <c:v>27</c:v>
              </c:pt>
              <c:pt idx="8">
                <c:v>26.6</c:v>
              </c:pt>
              <c:pt idx="9">
                <c:v>26.3</c:v>
              </c:pt>
              <c:pt idx="10">
                <c:v>26</c:v>
              </c:pt>
              <c:pt idx="11">
                <c:v>26</c:v>
              </c:pt>
              <c:pt idx="12">
                <c:v>26.3</c:v>
              </c:pt>
              <c:pt idx="13">
                <c:v>26.6</c:v>
              </c:pt>
              <c:pt idx="14">
                <c:v>26.9</c:v>
              </c:pt>
              <c:pt idx="15">
                <c:v>26.9</c:v>
              </c:pt>
              <c:pt idx="16">
                <c:v>26.6</c:v>
              </c:pt>
              <c:pt idx="17">
                <c:v>26.3</c:v>
              </c:pt>
              <c:pt idx="18">
                <c:v>26</c:v>
              </c:pt>
              <c:pt idx="19">
                <c:v>26</c:v>
              </c:pt>
              <c:pt idx="20">
                <c:v>26.3</c:v>
              </c:pt>
              <c:pt idx="21">
                <c:v>26.6</c:v>
              </c:pt>
              <c:pt idx="22">
                <c:v>26.9</c:v>
              </c:pt>
              <c:pt idx="23">
                <c:v>26.6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F7F6-3D49-8775-D881D3976599}"/>
            </c:ext>
          </c:extLst>
        </c:ser>
        <c:ser>
          <c:idx val="1"/>
          <c:order val="1"/>
          <c:tx>
            <c:v>Confirmed capacity (28)</c:v>
          </c:tx>
          <c:spPr>
            <a:ln w="15875" cap="rnd">
              <a:solidFill>
                <a:srgbClr val="8A8F93"/>
              </a:solidFill>
              <a:prstDash val="dash"/>
            </a:ln>
            <a:effectLst/>
          </c:spPr>
          <c:marker>
            <c:symbol val="none"/>
          </c:marker>
          <c:cat>
            <c:strLit>
              <c:ptCount val="24"/>
              <c:pt idx="0">
                <c:v>00:00</c:v>
              </c:pt>
              <c:pt idx="1">
                <c:v>01:00</c:v>
              </c:pt>
              <c:pt idx="2">
                <c:v>02:00</c:v>
              </c:pt>
              <c:pt idx="3">
                <c:v>03:00</c:v>
              </c:pt>
              <c:pt idx="4">
                <c:v>04:00</c:v>
              </c:pt>
              <c:pt idx="5">
                <c:v>05:00</c:v>
              </c:pt>
              <c:pt idx="6">
                <c:v>06:00</c:v>
              </c:pt>
              <c:pt idx="7">
                <c:v>07:00</c:v>
              </c:pt>
              <c:pt idx="8">
                <c:v>08:00</c:v>
              </c:pt>
              <c:pt idx="9">
                <c:v>09:00</c:v>
              </c:pt>
              <c:pt idx="10">
                <c:v>10:00</c:v>
              </c:pt>
              <c:pt idx="11">
                <c:v>11:00</c:v>
              </c:pt>
              <c:pt idx="12">
                <c:v>12:00</c:v>
              </c:pt>
              <c:pt idx="13">
                <c:v>13:00</c:v>
              </c:pt>
              <c:pt idx="14">
                <c:v>14:00</c:v>
              </c:pt>
              <c:pt idx="15">
                <c:v>15:00</c:v>
              </c:pt>
              <c:pt idx="16">
                <c:v>16:00</c:v>
              </c:pt>
              <c:pt idx="17">
                <c:v>17:00</c:v>
              </c:pt>
              <c:pt idx="18">
                <c:v>18:00</c:v>
              </c:pt>
              <c:pt idx="19">
                <c:v>19:00</c:v>
              </c:pt>
              <c:pt idx="20">
                <c:v>20:00</c:v>
              </c:pt>
              <c:pt idx="21">
                <c:v>21:00</c:v>
              </c:pt>
              <c:pt idx="22">
                <c:v>22:00</c:v>
              </c:pt>
              <c:pt idx="23">
                <c:v>23:00</c:v>
              </c:pt>
            </c:strLit>
          </c:cat>
          <c:val>
            <c:numLit>
              <c:formatCode>0</c:formatCode>
              <c:ptCount val="24"/>
              <c:pt idx="0">
                <c:v>28</c:v>
              </c:pt>
              <c:pt idx="1">
                <c:v>28</c:v>
              </c:pt>
              <c:pt idx="2">
                <c:v>28</c:v>
              </c:pt>
              <c:pt idx="3">
                <c:v>28</c:v>
              </c:pt>
              <c:pt idx="4">
                <c:v>28</c:v>
              </c:pt>
              <c:pt idx="5">
                <c:v>28</c:v>
              </c:pt>
              <c:pt idx="6">
                <c:v>28</c:v>
              </c:pt>
              <c:pt idx="7">
                <c:v>28</c:v>
              </c:pt>
              <c:pt idx="8">
                <c:v>28</c:v>
              </c:pt>
              <c:pt idx="9">
                <c:v>28</c:v>
              </c:pt>
              <c:pt idx="10">
                <c:v>28</c:v>
              </c:pt>
              <c:pt idx="11">
                <c:v>28</c:v>
              </c:pt>
              <c:pt idx="12">
                <c:v>28</c:v>
              </c:pt>
              <c:pt idx="13">
                <c:v>28</c:v>
              </c:pt>
              <c:pt idx="14">
                <c:v>28</c:v>
              </c:pt>
              <c:pt idx="15">
                <c:v>28</c:v>
              </c:pt>
              <c:pt idx="16">
                <c:v>28</c:v>
              </c:pt>
              <c:pt idx="17">
                <c:v>28</c:v>
              </c:pt>
              <c:pt idx="18">
                <c:v>28</c:v>
              </c:pt>
              <c:pt idx="19">
                <c:v>28</c:v>
              </c:pt>
              <c:pt idx="20">
                <c:v>28</c:v>
              </c:pt>
              <c:pt idx="21">
                <c:v>28</c:v>
              </c:pt>
              <c:pt idx="22">
                <c:v>28</c:v>
              </c:pt>
              <c:pt idx="23">
                <c:v>28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F7F6-3D49-8775-D881D39765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5A5F63"/>
                </a:solidFill>
                <a:latin typeface="Arial"/>
              </a:defRPr>
            </a:pPr>
            <a:endParaRPr lang="en-GB"/>
          </a:p>
        </c:txPr>
        <c:crossAx val="2"/>
        <c:crosses val="autoZero"/>
        <c:auto val="1"/>
        <c:lblAlgn val="ctr"/>
        <c:lblOffset val="100"/>
        <c:tickLblSkip val="4"/>
        <c:tickMarkSkip val="4"/>
        <c:noMultiLvlLbl val="1"/>
      </c:catAx>
      <c:valAx>
        <c:axId val="2"/>
        <c:scaling>
          <c:orientation val="minMax"/>
          <c:max val="32"/>
          <c:min val="0"/>
        </c:scaling>
        <c:delete val="0"/>
        <c:axPos val="l"/>
        <c:majorGridlines>
          <c:spPr>
            <a:ln w="6350">
              <a:solidFill>
                <a:srgbClr val="E3E5E5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5F63"/>
                </a:solidFill>
                <a:latin typeface="Arial"/>
              </a:defRPr>
            </a:pPr>
            <a:endParaRPr lang="en-GB"/>
          </a:p>
        </c:txPr>
        <c:crossAx val="1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 sz="1000">
              <a:solidFill>
                <a:srgbClr val="5A5F63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</c:chartSpace>
</file>

<file path=ppt/comments/modernComment_112_625DF71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4E0D8BD-D9CF-B146-9233-2BB4C15AF97B}" authorId="{058F09D3-2583-B45A-4D08-3646A79A024E}" created="2026-07-15T11:51:31.40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650325273" sldId="274"/>
      <ac:spMk id="7" creationId="{8A141CFF-2B5B-6210-7C2A-9573E0661692}"/>
      <ac:txMk cp="58" len="52">
        <ac:context len="342" hash="3737689185"/>
      </ac:txMk>
    </ac:txMkLst>
    <p188:pos x="4196443" y="994410"/>
    <p188:txBody>
      <a:bodyPr/>
      <a:lstStyle/>
      <a:p>
        <a:r>
          <a:rPr lang="en-GB"/>
          <a:t>Are they moving through surgical patients from ED quickly or holding those chairs for planned patients coming through from GPs?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68FEB-62BA-4D39-9E59-11AAF6631E82}" type="datetimeFigureOut">
              <a:t>7/15/26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5ACE84-1745-484C-B99B-5A8933B4113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252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E1EA6D-1D97-C245-97DB-427E6C7389D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6195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24.xml"/><Relationship Id="rId7" Type="http://schemas.openxmlformats.org/officeDocument/2006/relationships/oleObject" Target="../embeddings/oleObject2.bin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29.xml"/><Relationship Id="rId7" Type="http://schemas.openxmlformats.org/officeDocument/2006/relationships/oleObject" Target="../embeddings/oleObject3.bin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9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10" Type="http://schemas.openxmlformats.org/officeDocument/2006/relationships/image" Target="../media/image1.emf"/><Relationship Id="rId4" Type="http://schemas.openxmlformats.org/officeDocument/2006/relationships/tags" Target="../tags/tag35.xml"/><Relationship Id="rId9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4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9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4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9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tags" Target="../tags/tag5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9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10" Type="http://schemas.openxmlformats.org/officeDocument/2006/relationships/image" Target="../media/image3.emf"/><Relationship Id="rId4" Type="http://schemas.openxmlformats.org/officeDocument/2006/relationships/tags" Target="../tags/tag60.xml"/><Relationship Id="rId9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1.emf"/><Relationship Id="rId5" Type="http://schemas.openxmlformats.org/officeDocument/2006/relationships/tags" Target="../tags/tag68.xml"/><Relationship Id="rId10" Type="http://schemas.openxmlformats.org/officeDocument/2006/relationships/oleObject" Target="../embeddings/oleObject9.bin"/><Relationship Id="rId4" Type="http://schemas.openxmlformats.org/officeDocument/2006/relationships/tags" Target="../tags/tag67.xml"/><Relationship Id="rId9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10" Type="http://schemas.openxmlformats.org/officeDocument/2006/relationships/image" Target="../media/image1.emf"/><Relationship Id="rId4" Type="http://schemas.openxmlformats.org/officeDocument/2006/relationships/tags" Target="../tags/tag75.xml"/><Relationship Id="rId9" Type="http://schemas.openxmlformats.org/officeDocument/2006/relationships/oleObject" Target="../embeddings/oleObject10.bin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image" Target="../media/image1.emf"/><Relationship Id="rId5" Type="http://schemas.openxmlformats.org/officeDocument/2006/relationships/tags" Target="../tags/tag83.xml"/><Relationship Id="rId10" Type="http://schemas.openxmlformats.org/officeDocument/2006/relationships/oleObject" Target="../embeddings/oleObject11.bin"/><Relationship Id="rId4" Type="http://schemas.openxmlformats.org/officeDocument/2006/relationships/tags" Target="../tags/tag82.xml"/><Relationship Id="rId9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image" Target="../media/image1.emf"/><Relationship Id="rId5" Type="http://schemas.openxmlformats.org/officeDocument/2006/relationships/tags" Target="../tags/tag91.xml"/><Relationship Id="rId10" Type="http://schemas.openxmlformats.org/officeDocument/2006/relationships/oleObject" Target="../embeddings/oleObject12.bin"/><Relationship Id="rId4" Type="http://schemas.openxmlformats.org/officeDocument/2006/relationships/tags" Target="../tags/tag90.xml"/><Relationship Id="rId9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image" Target="../media/image1.emf"/><Relationship Id="rId5" Type="http://schemas.openxmlformats.org/officeDocument/2006/relationships/tags" Target="../tags/tag99.xml"/><Relationship Id="rId10" Type="http://schemas.openxmlformats.org/officeDocument/2006/relationships/oleObject" Target="../embeddings/oleObject11.bin"/><Relationship Id="rId4" Type="http://schemas.openxmlformats.org/officeDocument/2006/relationships/tags" Target="../tags/tag98.xml"/><Relationship Id="rId9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image" Target="../media/image1.emf"/><Relationship Id="rId5" Type="http://schemas.openxmlformats.org/officeDocument/2006/relationships/tags" Target="../tags/tag107.xml"/><Relationship Id="rId10" Type="http://schemas.openxmlformats.org/officeDocument/2006/relationships/oleObject" Target="../embeddings/oleObject13.bin"/><Relationship Id="rId4" Type="http://schemas.openxmlformats.org/officeDocument/2006/relationships/tags" Target="../tags/tag106.xml"/><Relationship Id="rId9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1" Type="http://schemas.openxmlformats.org/officeDocument/2006/relationships/image" Target="../media/image6.emf"/><Relationship Id="rId5" Type="http://schemas.openxmlformats.org/officeDocument/2006/relationships/tags" Target="../tags/tag115.xml"/><Relationship Id="rId10" Type="http://schemas.openxmlformats.org/officeDocument/2006/relationships/oleObject" Target="../embeddings/oleObject11.bin"/><Relationship Id="rId4" Type="http://schemas.openxmlformats.org/officeDocument/2006/relationships/tags" Target="../tags/tag114.xml"/><Relationship Id="rId9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26.xml"/><Relationship Id="rId3" Type="http://schemas.openxmlformats.org/officeDocument/2006/relationships/tags" Target="../tags/tag121.xml"/><Relationship Id="rId7" Type="http://schemas.openxmlformats.org/officeDocument/2006/relationships/tags" Target="../tags/tag125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11" Type="http://schemas.openxmlformats.org/officeDocument/2006/relationships/image" Target="../media/image6.emf"/><Relationship Id="rId5" Type="http://schemas.openxmlformats.org/officeDocument/2006/relationships/tags" Target="../tags/tag123.xml"/><Relationship Id="rId10" Type="http://schemas.openxmlformats.org/officeDocument/2006/relationships/oleObject" Target="../embeddings/oleObject14.bin"/><Relationship Id="rId4" Type="http://schemas.openxmlformats.org/officeDocument/2006/relationships/tags" Target="../tags/tag122.xml"/><Relationship Id="rId9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34.xml"/><Relationship Id="rId3" Type="http://schemas.openxmlformats.org/officeDocument/2006/relationships/tags" Target="../tags/tag129.xml"/><Relationship Id="rId7" Type="http://schemas.openxmlformats.org/officeDocument/2006/relationships/tags" Target="../tags/tag133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11" Type="http://schemas.openxmlformats.org/officeDocument/2006/relationships/image" Target="../media/image1.emf"/><Relationship Id="rId5" Type="http://schemas.openxmlformats.org/officeDocument/2006/relationships/tags" Target="../tags/tag131.xml"/><Relationship Id="rId10" Type="http://schemas.openxmlformats.org/officeDocument/2006/relationships/oleObject" Target="../embeddings/oleObject15.bin"/><Relationship Id="rId4" Type="http://schemas.openxmlformats.org/officeDocument/2006/relationships/tags" Target="../tags/tag130.xml"/><Relationship Id="rId9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3" Type="http://schemas.openxmlformats.org/officeDocument/2006/relationships/tags" Target="../tags/tag137.xml"/><Relationship Id="rId7" Type="http://schemas.openxmlformats.org/officeDocument/2006/relationships/tags" Target="../tags/tag141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image" Target="../media/image1.emf"/><Relationship Id="rId5" Type="http://schemas.openxmlformats.org/officeDocument/2006/relationships/tags" Target="../tags/tag139.xml"/><Relationship Id="rId10" Type="http://schemas.openxmlformats.org/officeDocument/2006/relationships/oleObject" Target="../embeddings/oleObject16.bin"/><Relationship Id="rId4" Type="http://schemas.openxmlformats.org/officeDocument/2006/relationships/tags" Target="../tags/tag138.xml"/><Relationship Id="rId9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tags" Target="../tags/tag1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9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51.xml"/><Relationship Id="rId7" Type="http://schemas.openxmlformats.org/officeDocument/2006/relationships/image" Target="../media/image3.emf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oleObject" Target="../embeddings/oleObject18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5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microsoft.com/office/2007/relationships/hdphoto" Target="../media/hdphoto1.wdp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6" Type="http://schemas.openxmlformats.org/officeDocument/2006/relationships/image" Target="../media/image7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9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FF99139-941F-B564-3237-DDE643088C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20981" t="26852" r="20981" b="25926"/>
          <a:stretch/>
        </p:blipFill>
        <p:spPr>
          <a:xfrm>
            <a:off x="856342" y="334042"/>
            <a:ext cx="905856" cy="737030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GB" sz="44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 bwMode="ltGray">
          <a:xfrm>
            <a:off x="856342" y="6033769"/>
            <a:ext cx="7895772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/>
            </a:lvl1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ltGray">
          <a:xfrm>
            <a:off x="856342" y="5297170"/>
            <a:ext cx="7895772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 bwMode="ltGray">
          <a:xfrm>
            <a:off x="856342" y="3144799"/>
            <a:ext cx="7895772" cy="20313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89A1767-518C-3EBF-3E44-8C5476A2D3F9}"/>
              </a:ext>
            </a:extLst>
          </p:cNvPr>
          <p:cNvSpPr/>
          <p:nvPr userDrawn="1"/>
        </p:nvSpPr>
        <p:spPr>
          <a:xfrm rot="16200000">
            <a:off x="9238476" y="675501"/>
            <a:ext cx="3629025" cy="2278024"/>
          </a:xfrm>
          <a:prstGeom prst="triangle">
            <a:avLst/>
          </a:prstGeom>
          <a:solidFill>
            <a:schemeClr val="accent1">
              <a:lumMod val="20000"/>
              <a:lumOff val="80000"/>
              <a:alpha val="47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spcBef>
                <a:spcPts val="300"/>
              </a:spcBef>
              <a:spcAft>
                <a:spcPts val="300"/>
              </a:spcAft>
            </a:pPr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29BBF8E7-9BA6-4E75-1D62-E86AA358185C}"/>
              </a:ext>
            </a:extLst>
          </p:cNvPr>
          <p:cNvSpPr/>
          <p:nvPr userDrawn="1"/>
        </p:nvSpPr>
        <p:spPr>
          <a:xfrm rot="16200000">
            <a:off x="9238475" y="2289988"/>
            <a:ext cx="3629025" cy="2278024"/>
          </a:xfrm>
          <a:prstGeom prst="triangle">
            <a:avLst/>
          </a:prstGeom>
          <a:solidFill>
            <a:schemeClr val="accent1">
              <a:alpha val="47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spcBef>
                <a:spcPts val="300"/>
              </a:spcBef>
              <a:spcAft>
                <a:spcPts val="300"/>
              </a:spcAft>
            </a:pPr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B9F2EDFA-A137-183D-B875-24D6DC86F267}"/>
              </a:ext>
            </a:extLst>
          </p:cNvPr>
          <p:cNvSpPr/>
          <p:nvPr userDrawn="1"/>
        </p:nvSpPr>
        <p:spPr>
          <a:xfrm rot="16200000">
            <a:off x="9238476" y="3904475"/>
            <a:ext cx="3629025" cy="2278024"/>
          </a:xfrm>
          <a:prstGeom prst="triangle">
            <a:avLst/>
          </a:prstGeom>
          <a:solidFill>
            <a:schemeClr val="accent2">
              <a:alpha val="46667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spcBef>
                <a:spcPts val="300"/>
              </a:spcBef>
              <a:spcAft>
                <a:spcPts val="300"/>
              </a:spcAft>
            </a:pPr>
            <a:endParaRPr lang="en-GB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14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ADA4276-54CC-B042-01BA-74395096D485}"/>
              </a:ext>
            </a:extLst>
          </p:cNvPr>
          <p:cNvCxnSpPr/>
          <p:nvPr userDrawn="1"/>
        </p:nvCxnSpPr>
        <p:spPr>
          <a:xfrm>
            <a:off x="6645600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7D3AB0B-C2ED-1F24-77F5-56A489BCA3AB}"/>
              </a:ext>
            </a:extLst>
          </p:cNvPr>
          <p:cNvSpPr txBox="1"/>
          <p:nvPr userDrawn="1"/>
        </p:nvSpPr>
        <p:spPr>
          <a:xfrm>
            <a:off x="10615064" y="3961685"/>
            <a:ext cx="1229989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0"/>
            <a:r>
              <a:rPr lang="en-US" sz="2000" b="1">
                <a:solidFill>
                  <a:srgbClr val="0067A5"/>
                </a:solidFill>
                <a:latin typeface="Arial" charset="0"/>
                <a:ea typeface="Arial" charset="0"/>
                <a:cs typeface="Arial" charset="0"/>
              </a:rPr>
              <a:t>Together</a:t>
            </a:r>
          </a:p>
          <a:p>
            <a:pPr algn="r" rtl="0"/>
            <a:r>
              <a:rPr lang="en-US" sz="2000" b="1">
                <a:latin typeface="Arial" charset="0"/>
                <a:ea typeface="Arial" charset="0"/>
                <a:cs typeface="Arial" charset="0"/>
              </a:rPr>
              <a:t>Safe</a:t>
            </a:r>
          </a:p>
          <a:p>
            <a:pPr algn="r" rtl="0"/>
            <a:r>
              <a:rPr lang="en-US" sz="2000" b="1">
                <a:latin typeface="Arial" charset="0"/>
                <a:ea typeface="Arial" charset="0"/>
                <a:cs typeface="Arial" charset="0"/>
              </a:rPr>
              <a:t>Kind</a:t>
            </a:r>
          </a:p>
          <a:p>
            <a:pPr algn="r" rtl="0"/>
            <a:r>
              <a:rPr lang="en-US" sz="2000" b="1">
                <a:latin typeface="Arial" charset="0"/>
                <a:ea typeface="Arial" charset="0"/>
                <a:cs typeface="Arial" charset="0"/>
              </a:rPr>
              <a:t>Excellent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30A4F9-9E99-AEF6-A76D-8AD9E765954F}"/>
              </a:ext>
            </a:extLst>
          </p:cNvPr>
          <p:cNvSpPr/>
          <p:nvPr userDrawn="1"/>
        </p:nvSpPr>
        <p:spPr>
          <a:xfrm>
            <a:off x="6655125" y="5562818"/>
            <a:ext cx="1284595" cy="1295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C70E1A-A765-741E-B47C-07760E4BE81A}"/>
              </a:ext>
            </a:extLst>
          </p:cNvPr>
          <p:cNvSpPr/>
          <p:nvPr userDrawn="1"/>
        </p:nvSpPr>
        <p:spPr>
          <a:xfrm>
            <a:off x="7930195" y="5562818"/>
            <a:ext cx="4261805" cy="1295182"/>
          </a:xfrm>
          <a:prstGeom prst="rect">
            <a:avLst/>
          </a:prstGeom>
          <a:solidFill>
            <a:srgbClr val="E7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6AD904-5CC0-5BA8-5CDF-069DC7741C03}"/>
              </a:ext>
            </a:extLst>
          </p:cNvPr>
          <p:cNvCxnSpPr/>
          <p:nvPr userDrawn="1"/>
        </p:nvCxnSpPr>
        <p:spPr>
          <a:xfrm>
            <a:off x="6645600" y="5562818"/>
            <a:ext cx="554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6C4851-A698-0C55-3E4A-5ACDD04B4333}"/>
              </a:ext>
            </a:extLst>
          </p:cNvPr>
          <p:cNvCxnSpPr/>
          <p:nvPr userDrawn="1"/>
        </p:nvCxnSpPr>
        <p:spPr>
          <a:xfrm>
            <a:off x="7930195" y="5562818"/>
            <a:ext cx="0" cy="12951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155264BE-FD2A-589C-B3DB-4B422E3C7E5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249" y="183999"/>
            <a:ext cx="890657" cy="890657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GB" sz="44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 bwMode="ltGray">
          <a:xfrm>
            <a:off x="547688" y="6033769"/>
            <a:ext cx="5706154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algn="l" rtl="0">
              <a:defRPr lang="en-US" sz="120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ltGray">
          <a:xfrm>
            <a:off x="547688" y="5297170"/>
            <a:ext cx="5706154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algn="l" rtl="0">
              <a:defRPr lang="en-US" sz="120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 bwMode="ltGray">
          <a:xfrm>
            <a:off x="547688" y="4252794"/>
            <a:ext cx="5706154" cy="92333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algn="l" rtl="0">
              <a:defRPr lang="en-US" sz="20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</p:spTree>
    <p:extLst>
      <p:ext uri="{BB962C8B-B14F-4D97-AF65-F5344CB8AC3E}">
        <p14:creationId xmlns:p14="http://schemas.microsoft.com/office/powerpoint/2010/main" val="703054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GB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919250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499563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1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1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/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/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519011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24227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GB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038" y="1408113"/>
            <a:ext cx="3813048" cy="769441"/>
          </a:xfrm>
          <a:prstGeom prst="rect">
            <a:avLst/>
          </a:prstGeom>
        </p:spPr>
        <p:txBody>
          <a:bodyPr vert="horz" anchor="t">
            <a:sp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1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1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+mn-lt"/>
                <a:ea typeface="+mn-ea"/>
                <a:cs typeface="+mn-cs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 rtl="0">
              <a:defRPr lang="en-US" sz="800" b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1360553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GB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1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1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+mn-lt"/>
                <a:ea typeface="+mn-ea"/>
                <a:cs typeface="+mn-cs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313051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GB" sz="44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ltGray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1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1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+mn-lt"/>
                <a:ea typeface="+mn-ea"/>
                <a:cs typeface="+mn-cs"/>
              </a:rPr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 bwMode="ltGray"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2D8ABEE9-B823-9EED-700D-ADC3B68DD1CA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4032253"/>
            <a:ext cx="6697402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 sz="3600">
                <a:ln w="6350" cap="flat">
                  <a:noFill/>
                  <a:miter lim="800000"/>
                </a:ln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595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GB" sz="34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>
            <a:spAutoFit/>
          </a:bodyPr>
          <a:lstStyle>
            <a:lvl1pPr rtl="0">
              <a:lnSpc>
                <a:spcPct val="105000"/>
              </a:lnSpc>
              <a:defRPr sz="3400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1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1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+mn-lt"/>
                <a:ea typeface="+mn-ea"/>
                <a:cs typeface="+mn-cs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912335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GB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C8F5E8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>
              <a:solidFill>
                <a:srgbClr val="F0F0F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1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1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dirty="0"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659644"/>
            <a:ext cx="25146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+mn-lt"/>
                <a:ea typeface="+mn-ea"/>
                <a:cs typeface="+mn-cs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1194361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GB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1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1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dirty="0"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3659644"/>
            <a:ext cx="25146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+mn-lt"/>
                <a:ea typeface="+mn-ea"/>
                <a:cs typeface="+mn-cs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83BF53F-2D48-C198-1098-6BFBEEFB4880}"/>
              </a:ext>
            </a:extLst>
          </p:cNvPr>
          <p:cNvSpPr/>
          <p:nvPr userDrawn="1"/>
        </p:nvSpPr>
        <p:spPr>
          <a:xfrm>
            <a:off x="3413760" y="1310639"/>
            <a:ext cx="8778239" cy="4683759"/>
          </a:xfrm>
          <a:custGeom>
            <a:avLst/>
            <a:gdLst>
              <a:gd name="connsiteX0" fmla="*/ 215567 w 8778239"/>
              <a:gd name="connsiteY0" fmla="*/ 0 h 4683759"/>
              <a:gd name="connsiteX1" fmla="*/ 1697082 w 8778239"/>
              <a:gd name="connsiteY1" fmla="*/ 0 h 4683759"/>
              <a:gd name="connsiteX2" fmla="*/ 3668528 w 8778239"/>
              <a:gd name="connsiteY2" fmla="*/ 0 h 4683759"/>
              <a:gd name="connsiteX3" fmla="*/ 8778239 w 8778239"/>
              <a:gd name="connsiteY3" fmla="*/ 0 h 4683759"/>
              <a:gd name="connsiteX4" fmla="*/ 8778239 w 8778239"/>
              <a:gd name="connsiteY4" fmla="*/ 4683759 h 4683759"/>
              <a:gd name="connsiteX5" fmla="*/ 3668528 w 8778239"/>
              <a:gd name="connsiteY5" fmla="*/ 4683759 h 4683759"/>
              <a:gd name="connsiteX6" fmla="*/ 1697082 w 8778239"/>
              <a:gd name="connsiteY6" fmla="*/ 4683759 h 4683759"/>
              <a:gd name="connsiteX7" fmla="*/ 215567 w 8778239"/>
              <a:gd name="connsiteY7" fmla="*/ 4683759 h 4683759"/>
              <a:gd name="connsiteX8" fmla="*/ 0 w 8778239"/>
              <a:gd name="connsiteY8" fmla="*/ 4468192 h 4683759"/>
              <a:gd name="connsiteX9" fmla="*/ 0 w 8778239"/>
              <a:gd name="connsiteY9" fmla="*/ 215567 h 4683759"/>
              <a:gd name="connsiteX10" fmla="*/ 215567 w 8778239"/>
              <a:gd name="connsiteY10" fmla="*/ 0 h 4683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778239" h="4683759">
                <a:moveTo>
                  <a:pt x="215567" y="0"/>
                </a:moveTo>
                <a:lnTo>
                  <a:pt x="1697082" y="0"/>
                </a:lnTo>
                <a:lnTo>
                  <a:pt x="3668528" y="0"/>
                </a:lnTo>
                <a:lnTo>
                  <a:pt x="8778239" y="0"/>
                </a:lnTo>
                <a:lnTo>
                  <a:pt x="8778239" y="4683759"/>
                </a:lnTo>
                <a:lnTo>
                  <a:pt x="3668528" y="4683759"/>
                </a:lnTo>
                <a:lnTo>
                  <a:pt x="1697082" y="4683759"/>
                </a:lnTo>
                <a:lnTo>
                  <a:pt x="215567" y="4683759"/>
                </a:lnTo>
                <a:cubicBezTo>
                  <a:pt x="96513" y="4683759"/>
                  <a:pt x="0" y="4587246"/>
                  <a:pt x="0" y="4468192"/>
                </a:cubicBezTo>
                <a:lnTo>
                  <a:pt x="0" y="215567"/>
                </a:lnTo>
                <a:cubicBezTo>
                  <a:pt x="0" y="96513"/>
                  <a:pt x="96513" y="0"/>
                  <a:pt x="215567" y="0"/>
                </a:cubicBezTo>
                <a:close/>
              </a:path>
            </a:pathLst>
          </a:custGeom>
          <a:solidFill>
            <a:srgbClr val="C8F5E8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>
              <a:solidFill>
                <a:srgbClr val="F0F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649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GB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C8F5E8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>
              <a:solidFill>
                <a:srgbClr val="F0F0F0"/>
              </a:solidFill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1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1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dirty="0"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3659644"/>
            <a:ext cx="346557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+mn-lt"/>
                <a:ea typeface="+mn-ea"/>
                <a:cs typeface="+mn-cs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854293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GB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5A2F87B-3186-2596-98A3-2385780B5461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1310640"/>
            <a:ext cx="7827264" cy="4683759"/>
          </a:xfrm>
          <a:custGeom>
            <a:avLst/>
            <a:gdLst>
              <a:gd name="connsiteX0" fmla="*/ 215567 w 7827264"/>
              <a:gd name="connsiteY0" fmla="*/ 0 h 4683759"/>
              <a:gd name="connsiteX1" fmla="*/ 1697082 w 7827264"/>
              <a:gd name="connsiteY1" fmla="*/ 0 h 4683759"/>
              <a:gd name="connsiteX2" fmla="*/ 3668528 w 7827264"/>
              <a:gd name="connsiteY2" fmla="*/ 0 h 4683759"/>
              <a:gd name="connsiteX3" fmla="*/ 7827264 w 7827264"/>
              <a:gd name="connsiteY3" fmla="*/ 0 h 4683759"/>
              <a:gd name="connsiteX4" fmla="*/ 7827264 w 7827264"/>
              <a:gd name="connsiteY4" fmla="*/ 4683759 h 4683759"/>
              <a:gd name="connsiteX5" fmla="*/ 3668528 w 7827264"/>
              <a:gd name="connsiteY5" fmla="*/ 4683759 h 4683759"/>
              <a:gd name="connsiteX6" fmla="*/ 1697082 w 7827264"/>
              <a:gd name="connsiteY6" fmla="*/ 4683759 h 4683759"/>
              <a:gd name="connsiteX7" fmla="*/ 215567 w 7827264"/>
              <a:gd name="connsiteY7" fmla="*/ 4683759 h 4683759"/>
              <a:gd name="connsiteX8" fmla="*/ 0 w 7827264"/>
              <a:gd name="connsiteY8" fmla="*/ 4468192 h 4683759"/>
              <a:gd name="connsiteX9" fmla="*/ 0 w 7827264"/>
              <a:gd name="connsiteY9" fmla="*/ 215567 h 4683759"/>
              <a:gd name="connsiteX10" fmla="*/ 215567 w 7827264"/>
              <a:gd name="connsiteY10" fmla="*/ 0 h 4683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827264" h="4683759">
                <a:moveTo>
                  <a:pt x="215567" y="0"/>
                </a:moveTo>
                <a:lnTo>
                  <a:pt x="1697082" y="0"/>
                </a:lnTo>
                <a:lnTo>
                  <a:pt x="3668528" y="0"/>
                </a:lnTo>
                <a:lnTo>
                  <a:pt x="7827264" y="0"/>
                </a:lnTo>
                <a:lnTo>
                  <a:pt x="7827264" y="4683759"/>
                </a:lnTo>
                <a:lnTo>
                  <a:pt x="3668528" y="4683759"/>
                </a:lnTo>
                <a:lnTo>
                  <a:pt x="1697082" y="4683759"/>
                </a:lnTo>
                <a:lnTo>
                  <a:pt x="215567" y="4683759"/>
                </a:lnTo>
                <a:cubicBezTo>
                  <a:pt x="96513" y="4683759"/>
                  <a:pt x="0" y="4587246"/>
                  <a:pt x="0" y="4468192"/>
                </a:cubicBezTo>
                <a:lnTo>
                  <a:pt x="0" y="215567"/>
                </a:lnTo>
                <a:cubicBezTo>
                  <a:pt x="0" y="96513"/>
                  <a:pt x="96513" y="0"/>
                  <a:pt x="215567" y="0"/>
                </a:cubicBezTo>
                <a:close/>
              </a:path>
            </a:pathLst>
          </a:custGeom>
          <a:solidFill>
            <a:srgbClr val="C8F5E8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>
              <a:solidFill>
                <a:srgbClr val="F0F0F0"/>
              </a:solidFill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1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1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dirty="0"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3659644"/>
            <a:ext cx="346557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+mn-lt"/>
                <a:ea typeface="+mn-ea"/>
                <a:cs typeface="+mn-cs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6442288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GB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C8F5E8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>
              <a:solidFill>
                <a:srgbClr val="F0F0F0"/>
              </a:solidFill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1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1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519011"/>
            <a:ext cx="5065776" cy="384721"/>
          </a:xfrm>
        </p:spPr>
        <p:txBody>
          <a:bodyPr vert="horz"/>
          <a:lstStyle>
            <a:lvl1pPr rtl="0"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+mn-lt"/>
                <a:ea typeface="+mn-ea"/>
                <a:cs typeface="+mn-cs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1544868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GB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DB0712D-0496-04D9-8BC4-5C638CFA6377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1310641"/>
            <a:ext cx="6099048" cy="4683759"/>
          </a:xfrm>
          <a:custGeom>
            <a:avLst/>
            <a:gdLst>
              <a:gd name="connsiteX0" fmla="*/ 215567 w 6099048"/>
              <a:gd name="connsiteY0" fmla="*/ 0 h 4683759"/>
              <a:gd name="connsiteX1" fmla="*/ 1697082 w 6099048"/>
              <a:gd name="connsiteY1" fmla="*/ 0 h 4683759"/>
              <a:gd name="connsiteX2" fmla="*/ 3668528 w 6099048"/>
              <a:gd name="connsiteY2" fmla="*/ 0 h 4683759"/>
              <a:gd name="connsiteX3" fmla="*/ 6099048 w 6099048"/>
              <a:gd name="connsiteY3" fmla="*/ 0 h 4683759"/>
              <a:gd name="connsiteX4" fmla="*/ 6099048 w 6099048"/>
              <a:gd name="connsiteY4" fmla="*/ 4683759 h 4683759"/>
              <a:gd name="connsiteX5" fmla="*/ 3668528 w 6099048"/>
              <a:gd name="connsiteY5" fmla="*/ 4683759 h 4683759"/>
              <a:gd name="connsiteX6" fmla="*/ 1697082 w 6099048"/>
              <a:gd name="connsiteY6" fmla="*/ 4683759 h 4683759"/>
              <a:gd name="connsiteX7" fmla="*/ 215567 w 6099048"/>
              <a:gd name="connsiteY7" fmla="*/ 4683759 h 4683759"/>
              <a:gd name="connsiteX8" fmla="*/ 0 w 6099048"/>
              <a:gd name="connsiteY8" fmla="*/ 4468192 h 4683759"/>
              <a:gd name="connsiteX9" fmla="*/ 0 w 6099048"/>
              <a:gd name="connsiteY9" fmla="*/ 215567 h 4683759"/>
              <a:gd name="connsiteX10" fmla="*/ 215567 w 6099048"/>
              <a:gd name="connsiteY10" fmla="*/ 0 h 4683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9048" h="4683759">
                <a:moveTo>
                  <a:pt x="215567" y="0"/>
                </a:moveTo>
                <a:lnTo>
                  <a:pt x="1697082" y="0"/>
                </a:lnTo>
                <a:lnTo>
                  <a:pt x="3668528" y="0"/>
                </a:lnTo>
                <a:lnTo>
                  <a:pt x="6099048" y="0"/>
                </a:lnTo>
                <a:lnTo>
                  <a:pt x="6099048" y="4683759"/>
                </a:lnTo>
                <a:lnTo>
                  <a:pt x="3668528" y="4683759"/>
                </a:lnTo>
                <a:lnTo>
                  <a:pt x="1697082" y="4683759"/>
                </a:lnTo>
                <a:lnTo>
                  <a:pt x="215567" y="4683759"/>
                </a:lnTo>
                <a:cubicBezTo>
                  <a:pt x="96513" y="4683759"/>
                  <a:pt x="0" y="4587246"/>
                  <a:pt x="0" y="4468192"/>
                </a:cubicBezTo>
                <a:lnTo>
                  <a:pt x="0" y="215567"/>
                </a:lnTo>
                <a:cubicBezTo>
                  <a:pt x="0" y="96513"/>
                  <a:pt x="96513" y="0"/>
                  <a:pt x="215567" y="0"/>
                </a:cubicBezTo>
                <a:close/>
              </a:path>
            </a:pathLst>
          </a:custGeom>
          <a:solidFill>
            <a:srgbClr val="C8F5E8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>
              <a:solidFill>
                <a:srgbClr val="F0F0F0"/>
              </a:solidFill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1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1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519011"/>
            <a:ext cx="11080052" cy="384721"/>
          </a:xfrm>
        </p:spPr>
        <p:txBody>
          <a:bodyPr vert="horz"/>
          <a:lstStyle>
            <a:lvl1pPr rtl="0"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11080052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+mn-lt"/>
                <a:ea typeface="+mn-ea"/>
                <a:cs typeface="+mn-cs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1257295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72" imgH="588" progId="TCLayout.ActiveDocument.1">
                  <p:embed/>
                </p:oleObj>
              </mc:Choice>
              <mc:Fallback>
                <p:oleObj name="think-cell Slide" r:id="rId10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GB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519011"/>
            <a:ext cx="6967728" cy="384721"/>
          </a:xfrm>
        </p:spPr>
        <p:txBody>
          <a:bodyPr vert="horz"/>
          <a:lstStyle>
            <a:lvl1pPr rtl="0"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C8F5E8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>
              <a:solidFill>
                <a:srgbClr val="F0F0F0"/>
              </a:solidFill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1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1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696772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78882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72" imgH="588" progId="TCLayout.ActiveDocument.1">
                  <p:embed/>
                </p:oleObj>
              </mc:Choice>
              <mc:Fallback>
                <p:oleObj name="think-cell Slide" r:id="rId10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GB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519011"/>
            <a:ext cx="11083290" cy="384721"/>
          </a:xfrm>
        </p:spPr>
        <p:txBody>
          <a:bodyPr vert="horz"/>
          <a:lstStyle>
            <a:lvl1pPr rtl="0"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546C0C-4197-F76D-7875-87E41FDFE2A6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1310642"/>
            <a:ext cx="4361688" cy="4683759"/>
          </a:xfrm>
          <a:custGeom>
            <a:avLst/>
            <a:gdLst>
              <a:gd name="connsiteX0" fmla="*/ 215567 w 4361688"/>
              <a:gd name="connsiteY0" fmla="*/ 0 h 4683759"/>
              <a:gd name="connsiteX1" fmla="*/ 1697082 w 4361688"/>
              <a:gd name="connsiteY1" fmla="*/ 0 h 4683759"/>
              <a:gd name="connsiteX2" fmla="*/ 3668528 w 4361688"/>
              <a:gd name="connsiteY2" fmla="*/ 0 h 4683759"/>
              <a:gd name="connsiteX3" fmla="*/ 4361688 w 4361688"/>
              <a:gd name="connsiteY3" fmla="*/ 0 h 4683759"/>
              <a:gd name="connsiteX4" fmla="*/ 4361688 w 4361688"/>
              <a:gd name="connsiteY4" fmla="*/ 4683759 h 4683759"/>
              <a:gd name="connsiteX5" fmla="*/ 3668528 w 4361688"/>
              <a:gd name="connsiteY5" fmla="*/ 4683759 h 4683759"/>
              <a:gd name="connsiteX6" fmla="*/ 1697082 w 4361688"/>
              <a:gd name="connsiteY6" fmla="*/ 4683759 h 4683759"/>
              <a:gd name="connsiteX7" fmla="*/ 215567 w 4361688"/>
              <a:gd name="connsiteY7" fmla="*/ 4683759 h 4683759"/>
              <a:gd name="connsiteX8" fmla="*/ 0 w 4361688"/>
              <a:gd name="connsiteY8" fmla="*/ 4468192 h 4683759"/>
              <a:gd name="connsiteX9" fmla="*/ 0 w 4361688"/>
              <a:gd name="connsiteY9" fmla="*/ 215567 h 4683759"/>
              <a:gd name="connsiteX10" fmla="*/ 215567 w 4361688"/>
              <a:gd name="connsiteY10" fmla="*/ 0 h 4683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61688" h="4683759">
                <a:moveTo>
                  <a:pt x="215567" y="0"/>
                </a:moveTo>
                <a:lnTo>
                  <a:pt x="1697082" y="0"/>
                </a:lnTo>
                <a:lnTo>
                  <a:pt x="3668528" y="0"/>
                </a:lnTo>
                <a:lnTo>
                  <a:pt x="4361688" y="0"/>
                </a:lnTo>
                <a:lnTo>
                  <a:pt x="4361688" y="4683759"/>
                </a:lnTo>
                <a:lnTo>
                  <a:pt x="3668528" y="4683759"/>
                </a:lnTo>
                <a:lnTo>
                  <a:pt x="1697082" y="4683759"/>
                </a:lnTo>
                <a:lnTo>
                  <a:pt x="215567" y="4683759"/>
                </a:lnTo>
                <a:cubicBezTo>
                  <a:pt x="96513" y="4683759"/>
                  <a:pt x="0" y="4587246"/>
                  <a:pt x="0" y="4468192"/>
                </a:cubicBezTo>
                <a:lnTo>
                  <a:pt x="0" y="215567"/>
                </a:lnTo>
                <a:cubicBezTo>
                  <a:pt x="0" y="96513"/>
                  <a:pt x="96513" y="0"/>
                  <a:pt x="215567" y="0"/>
                </a:cubicBezTo>
                <a:close/>
              </a:path>
            </a:pathLst>
          </a:custGeom>
          <a:solidFill>
            <a:srgbClr val="C8F5E8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>
              <a:solidFill>
                <a:srgbClr val="F0F0F0"/>
              </a:solidFill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1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1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1108329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4230729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Light">
            <a:extLst>
              <a:ext uri="{FF2B5EF4-FFF2-40B4-BE49-F238E27FC236}">
                <a16:creationId xmlns:a16="http://schemas.microsoft.com/office/drawing/2014/main" id="{0C7B9468-C399-C51D-07CC-AAAF24CCBF0C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C8F5E8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>
              <a:solidFill>
                <a:srgbClr val="F0F0F0"/>
              </a:solidFill>
            </a:endParaRPr>
          </a:p>
        </p:txBody>
      </p:sp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GB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519011"/>
            <a:ext cx="7918704" cy="384721"/>
          </a:xfrm>
        </p:spPr>
        <p:txBody>
          <a:bodyPr vert="horz"/>
          <a:lstStyle>
            <a:lvl1pPr rtl="0"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40334780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GB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96F0059-ECFB-B03F-EAC6-9EE79FB7DC46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1310643"/>
            <a:ext cx="3410584" cy="4683759"/>
          </a:xfrm>
          <a:custGeom>
            <a:avLst/>
            <a:gdLst>
              <a:gd name="connsiteX0" fmla="*/ 215567 w 3410584"/>
              <a:gd name="connsiteY0" fmla="*/ 0 h 4683759"/>
              <a:gd name="connsiteX1" fmla="*/ 1697082 w 3410584"/>
              <a:gd name="connsiteY1" fmla="*/ 0 h 4683759"/>
              <a:gd name="connsiteX2" fmla="*/ 3410584 w 3410584"/>
              <a:gd name="connsiteY2" fmla="*/ 0 h 4683759"/>
              <a:gd name="connsiteX3" fmla="*/ 3410584 w 3410584"/>
              <a:gd name="connsiteY3" fmla="*/ 4683759 h 4683759"/>
              <a:gd name="connsiteX4" fmla="*/ 1697082 w 3410584"/>
              <a:gd name="connsiteY4" fmla="*/ 4683759 h 4683759"/>
              <a:gd name="connsiteX5" fmla="*/ 215567 w 3410584"/>
              <a:gd name="connsiteY5" fmla="*/ 4683759 h 4683759"/>
              <a:gd name="connsiteX6" fmla="*/ 0 w 3410584"/>
              <a:gd name="connsiteY6" fmla="*/ 4468192 h 4683759"/>
              <a:gd name="connsiteX7" fmla="*/ 0 w 3410584"/>
              <a:gd name="connsiteY7" fmla="*/ 215567 h 4683759"/>
              <a:gd name="connsiteX8" fmla="*/ 215567 w 3410584"/>
              <a:gd name="connsiteY8" fmla="*/ 0 h 4683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0584" h="4683759">
                <a:moveTo>
                  <a:pt x="215567" y="0"/>
                </a:moveTo>
                <a:lnTo>
                  <a:pt x="1697082" y="0"/>
                </a:lnTo>
                <a:lnTo>
                  <a:pt x="3410584" y="0"/>
                </a:lnTo>
                <a:lnTo>
                  <a:pt x="3410584" y="4683759"/>
                </a:lnTo>
                <a:lnTo>
                  <a:pt x="1697082" y="4683759"/>
                </a:lnTo>
                <a:lnTo>
                  <a:pt x="215567" y="4683759"/>
                </a:lnTo>
                <a:cubicBezTo>
                  <a:pt x="96513" y="4683759"/>
                  <a:pt x="0" y="4587246"/>
                  <a:pt x="0" y="4468192"/>
                </a:cubicBezTo>
                <a:lnTo>
                  <a:pt x="0" y="215567"/>
                </a:lnTo>
                <a:cubicBezTo>
                  <a:pt x="0" y="96513"/>
                  <a:pt x="96513" y="0"/>
                  <a:pt x="215567" y="0"/>
                </a:cubicBezTo>
                <a:close/>
              </a:path>
            </a:pathLst>
          </a:custGeom>
          <a:solidFill>
            <a:srgbClr val="C8F5E8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noProof="0">
              <a:solidFill>
                <a:srgbClr val="F0F0F0"/>
              </a:solidFill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519011"/>
            <a:ext cx="11080052" cy="384721"/>
          </a:xfrm>
        </p:spPr>
        <p:txBody>
          <a:bodyPr vert="horz"/>
          <a:lstStyle>
            <a:lvl1pPr rtl="0"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11080052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40889688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GB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1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1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11082528" cy="989512"/>
          </a:xfrm>
        </p:spPr>
        <p:txBody>
          <a:bodyPr vert="horz">
            <a:noAutofit/>
          </a:bodyPr>
          <a:lstStyle>
            <a:lvl1pPr rtl="0"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+mn-lt"/>
                <a:ea typeface="+mn-ea"/>
                <a:cs typeface="+mn-cs"/>
              </a:rPr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2139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1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1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+mn-lt"/>
                <a:ea typeface="+mn-ea"/>
                <a:cs typeface="+mn-cs"/>
              </a:rPr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26264230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+mn-lt"/>
                <a:ea typeface="+mn-ea"/>
                <a:cs typeface="+mn-cs"/>
              </a:rPr>
              <a:t>Source: …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C46C5C71-B72D-132A-3B43-8A09787BAE07}"/>
              </a:ext>
            </a:extLst>
          </p:cNvPr>
          <p:cNvSpPr/>
          <p:nvPr userDrawn="1"/>
        </p:nvSpPr>
        <p:spPr bwMode="ltGray">
          <a:xfrm>
            <a:off x="3176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7559992" y="0"/>
                </a:moveTo>
                <a:lnTo>
                  <a:pt x="0" y="0"/>
                </a:lnTo>
                <a:lnTo>
                  <a:pt x="0" y="10692003"/>
                </a:lnTo>
                <a:lnTo>
                  <a:pt x="7559992" y="10692003"/>
                </a:lnTo>
                <a:lnTo>
                  <a:pt x="7559992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rtl="0"/>
            <a:endParaRPr lang="en-GB">
              <a:latin typeface="+mn-lt"/>
              <a:ea typeface="+mn-ea"/>
              <a:cs typeface="+mn-cs"/>
            </a:endParaRPr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55043C70-DDFB-DFD5-1F31-A7710FB6EA01}"/>
              </a:ext>
            </a:extLst>
          </p:cNvPr>
          <p:cNvSpPr/>
          <p:nvPr userDrawn="1"/>
        </p:nvSpPr>
        <p:spPr bwMode="ltGray">
          <a:xfrm>
            <a:off x="4879778" y="2851482"/>
            <a:ext cx="2094345" cy="843732"/>
          </a:xfrm>
          <a:custGeom>
            <a:avLst/>
            <a:gdLst/>
            <a:ahLst/>
            <a:cxnLst/>
            <a:rect l="l" t="t" r="r" b="b"/>
            <a:pathLst>
              <a:path w="843279" h="339725">
                <a:moveTo>
                  <a:pt x="843254" y="0"/>
                </a:moveTo>
                <a:lnTo>
                  <a:pt x="0" y="0"/>
                </a:lnTo>
                <a:lnTo>
                  <a:pt x="0" y="339559"/>
                </a:lnTo>
                <a:lnTo>
                  <a:pt x="843254" y="339559"/>
                </a:lnTo>
                <a:lnTo>
                  <a:pt x="843254" y="310819"/>
                </a:lnTo>
                <a:lnTo>
                  <a:pt x="653059" y="310819"/>
                </a:lnTo>
                <a:lnTo>
                  <a:pt x="631198" y="309657"/>
                </a:lnTo>
                <a:lnTo>
                  <a:pt x="609186" y="306577"/>
                </a:lnTo>
                <a:lnTo>
                  <a:pt x="606751" y="306082"/>
                </a:lnTo>
                <a:lnTo>
                  <a:pt x="23787" y="306082"/>
                </a:lnTo>
                <a:lnTo>
                  <a:pt x="82461" y="32766"/>
                </a:lnTo>
                <a:lnTo>
                  <a:pt x="682173" y="32766"/>
                </a:lnTo>
                <a:lnTo>
                  <a:pt x="682909" y="32485"/>
                </a:lnTo>
                <a:lnTo>
                  <a:pt x="727443" y="28079"/>
                </a:lnTo>
                <a:lnTo>
                  <a:pt x="843254" y="28079"/>
                </a:lnTo>
                <a:lnTo>
                  <a:pt x="843254" y="0"/>
                </a:lnTo>
                <a:close/>
              </a:path>
              <a:path w="843279" h="339725">
                <a:moveTo>
                  <a:pt x="733348" y="82143"/>
                </a:moveTo>
                <a:lnTo>
                  <a:pt x="712615" y="83163"/>
                </a:lnTo>
                <a:lnTo>
                  <a:pt x="712783" y="83163"/>
                </a:lnTo>
                <a:lnTo>
                  <a:pt x="696067" y="87021"/>
                </a:lnTo>
                <a:lnTo>
                  <a:pt x="684764" y="95007"/>
                </a:lnTo>
                <a:lnTo>
                  <a:pt x="680618" y="108369"/>
                </a:lnTo>
                <a:lnTo>
                  <a:pt x="691709" y="126432"/>
                </a:lnTo>
                <a:lnTo>
                  <a:pt x="718156" y="138962"/>
                </a:lnTo>
                <a:lnTo>
                  <a:pt x="749722" y="153189"/>
                </a:lnTo>
                <a:lnTo>
                  <a:pt x="776169" y="176344"/>
                </a:lnTo>
                <a:lnTo>
                  <a:pt x="787260" y="215658"/>
                </a:lnTo>
                <a:lnTo>
                  <a:pt x="775255" y="262406"/>
                </a:lnTo>
                <a:lnTo>
                  <a:pt x="744062" y="291576"/>
                </a:lnTo>
                <a:lnTo>
                  <a:pt x="700919" y="306577"/>
                </a:lnTo>
                <a:lnTo>
                  <a:pt x="653059" y="310819"/>
                </a:lnTo>
                <a:lnTo>
                  <a:pt x="843254" y="310819"/>
                </a:lnTo>
                <a:lnTo>
                  <a:pt x="843254" y="94640"/>
                </a:lnTo>
                <a:lnTo>
                  <a:pt x="793940" y="94640"/>
                </a:lnTo>
                <a:lnTo>
                  <a:pt x="782310" y="89890"/>
                </a:lnTo>
                <a:lnTo>
                  <a:pt x="768507" y="85905"/>
                </a:lnTo>
                <a:lnTo>
                  <a:pt x="752272" y="83163"/>
                </a:lnTo>
                <a:lnTo>
                  <a:pt x="733348" y="82143"/>
                </a:lnTo>
                <a:close/>
              </a:path>
              <a:path w="843279" h="339725">
                <a:moveTo>
                  <a:pt x="132041" y="116967"/>
                </a:moveTo>
                <a:lnTo>
                  <a:pt x="131267" y="116967"/>
                </a:lnTo>
                <a:lnTo>
                  <a:pt x="93052" y="306082"/>
                </a:lnTo>
                <a:lnTo>
                  <a:pt x="189484" y="306082"/>
                </a:lnTo>
                <a:lnTo>
                  <a:pt x="132041" y="116967"/>
                </a:lnTo>
                <a:close/>
              </a:path>
              <a:path w="843279" h="339725">
                <a:moveTo>
                  <a:pt x="366179" y="32766"/>
                </a:moveTo>
                <a:lnTo>
                  <a:pt x="339039" y="32766"/>
                </a:lnTo>
                <a:lnTo>
                  <a:pt x="280822" y="306082"/>
                </a:lnTo>
                <a:lnTo>
                  <a:pt x="309105" y="306082"/>
                </a:lnTo>
                <a:lnTo>
                  <a:pt x="366179" y="32766"/>
                </a:lnTo>
                <a:close/>
              </a:path>
              <a:path w="843279" h="339725">
                <a:moveTo>
                  <a:pt x="494080" y="189026"/>
                </a:moveTo>
                <a:lnTo>
                  <a:pt x="407073" y="189026"/>
                </a:lnTo>
                <a:lnTo>
                  <a:pt x="382676" y="306082"/>
                </a:lnTo>
                <a:lnTo>
                  <a:pt x="469684" y="306082"/>
                </a:lnTo>
                <a:lnTo>
                  <a:pt x="494080" y="189026"/>
                </a:lnTo>
                <a:close/>
              </a:path>
              <a:path w="843279" h="339725">
                <a:moveTo>
                  <a:pt x="682173" y="32766"/>
                </a:moveTo>
                <a:lnTo>
                  <a:pt x="600329" y="32766"/>
                </a:lnTo>
                <a:lnTo>
                  <a:pt x="543255" y="306082"/>
                </a:lnTo>
                <a:lnTo>
                  <a:pt x="606751" y="306082"/>
                </a:lnTo>
                <a:lnTo>
                  <a:pt x="587481" y="302027"/>
                </a:lnTo>
                <a:lnTo>
                  <a:pt x="568071" y="296672"/>
                </a:lnTo>
                <a:lnTo>
                  <a:pt x="585333" y="241223"/>
                </a:lnTo>
                <a:lnTo>
                  <a:pt x="585381" y="241071"/>
                </a:lnTo>
                <a:lnTo>
                  <a:pt x="705788" y="241071"/>
                </a:lnTo>
                <a:lnTo>
                  <a:pt x="711682" y="224256"/>
                </a:lnTo>
                <a:lnTo>
                  <a:pt x="700590" y="203938"/>
                </a:lnTo>
                <a:lnTo>
                  <a:pt x="674140" y="190714"/>
                </a:lnTo>
                <a:lnTo>
                  <a:pt x="642570" y="177197"/>
                </a:lnTo>
                <a:lnTo>
                  <a:pt x="616120" y="156000"/>
                </a:lnTo>
                <a:lnTo>
                  <a:pt x="605028" y="119735"/>
                </a:lnTo>
                <a:lnTo>
                  <a:pt x="615686" y="75667"/>
                </a:lnTo>
                <a:lnTo>
                  <a:pt x="643651" y="47466"/>
                </a:lnTo>
                <a:lnTo>
                  <a:pt x="682173" y="32766"/>
                </a:lnTo>
                <a:close/>
              </a:path>
              <a:path w="843279" h="339725">
                <a:moveTo>
                  <a:pt x="705788" y="241071"/>
                </a:moveTo>
                <a:lnTo>
                  <a:pt x="585381" y="241071"/>
                </a:lnTo>
                <a:lnTo>
                  <a:pt x="598711" y="247492"/>
                </a:lnTo>
                <a:lnTo>
                  <a:pt x="615672" y="252442"/>
                </a:lnTo>
                <a:lnTo>
                  <a:pt x="634479" y="255640"/>
                </a:lnTo>
                <a:lnTo>
                  <a:pt x="653059" y="256755"/>
                </a:lnTo>
                <a:lnTo>
                  <a:pt x="671857" y="255640"/>
                </a:lnTo>
                <a:lnTo>
                  <a:pt x="690938" y="251074"/>
                </a:lnTo>
                <a:lnTo>
                  <a:pt x="705735" y="241223"/>
                </a:lnTo>
                <a:lnTo>
                  <a:pt x="705788" y="241071"/>
                </a:lnTo>
                <a:close/>
              </a:path>
              <a:path w="843279" h="339725">
                <a:moveTo>
                  <a:pt x="269760" y="32766"/>
                </a:moveTo>
                <a:lnTo>
                  <a:pt x="174117" y="32766"/>
                </a:lnTo>
                <a:lnTo>
                  <a:pt x="230416" y="222300"/>
                </a:lnTo>
                <a:lnTo>
                  <a:pt x="231190" y="222300"/>
                </a:lnTo>
                <a:lnTo>
                  <a:pt x="269760" y="32766"/>
                </a:lnTo>
                <a:close/>
              </a:path>
              <a:path w="843279" h="339725">
                <a:moveTo>
                  <a:pt x="526757" y="32766"/>
                </a:moveTo>
                <a:lnTo>
                  <a:pt x="439750" y="32766"/>
                </a:lnTo>
                <a:lnTo>
                  <a:pt x="418134" y="137337"/>
                </a:lnTo>
                <a:lnTo>
                  <a:pt x="505091" y="137337"/>
                </a:lnTo>
                <a:lnTo>
                  <a:pt x="526757" y="32766"/>
                </a:lnTo>
                <a:close/>
              </a:path>
              <a:path w="843279" h="339725">
                <a:moveTo>
                  <a:pt x="843254" y="28079"/>
                </a:moveTo>
                <a:lnTo>
                  <a:pt x="727443" y="28079"/>
                </a:lnTo>
                <a:lnTo>
                  <a:pt x="752290" y="28769"/>
                </a:lnTo>
                <a:lnTo>
                  <a:pt x="775319" y="30930"/>
                </a:lnTo>
                <a:lnTo>
                  <a:pt x="795466" y="34701"/>
                </a:lnTo>
                <a:lnTo>
                  <a:pt x="811669" y="40220"/>
                </a:lnTo>
                <a:lnTo>
                  <a:pt x="793940" y="94640"/>
                </a:lnTo>
                <a:lnTo>
                  <a:pt x="843254" y="94640"/>
                </a:lnTo>
                <a:lnTo>
                  <a:pt x="843254" y="2807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rtl="0"/>
            <a:endParaRPr lang="en-GB">
              <a:latin typeface="+mn-lt"/>
              <a:ea typeface="+mn-ea"/>
              <a:cs typeface="+mn-cs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78273C9-85E9-4F39-9053-701C9916FE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20981" t="50057" r="20981" b="25926"/>
          <a:stretch/>
        </p:blipFill>
        <p:spPr>
          <a:xfrm>
            <a:off x="4879778" y="3695929"/>
            <a:ext cx="2069005" cy="85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74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5.xml"/><Relationship Id="rId39" Type="http://schemas.openxmlformats.org/officeDocument/2006/relationships/tags" Target="../tags/tag18.xml"/><Relationship Id="rId21" Type="http://schemas.openxmlformats.org/officeDocument/2006/relationships/theme" Target="../theme/theme1.xml"/><Relationship Id="rId34" Type="http://schemas.openxmlformats.org/officeDocument/2006/relationships/tags" Target="../tags/tag13.xml"/><Relationship Id="rId42" Type="http://schemas.openxmlformats.org/officeDocument/2006/relationships/tags" Target="../tags/tag2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tags" Target="../tags/tag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3.xml"/><Relationship Id="rId32" Type="http://schemas.openxmlformats.org/officeDocument/2006/relationships/tags" Target="../tags/tag11.xml"/><Relationship Id="rId37" Type="http://schemas.openxmlformats.org/officeDocument/2006/relationships/tags" Target="../tags/tag16.xml"/><Relationship Id="rId40" Type="http://schemas.openxmlformats.org/officeDocument/2006/relationships/tags" Target="../tags/tag19.xml"/><Relationship Id="rId45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28" Type="http://schemas.openxmlformats.org/officeDocument/2006/relationships/tags" Target="../tags/tag7.xml"/><Relationship Id="rId36" Type="http://schemas.openxmlformats.org/officeDocument/2006/relationships/tags" Target="../tags/tag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10.xml"/><Relationship Id="rId44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1.xml"/><Relationship Id="rId27" Type="http://schemas.openxmlformats.org/officeDocument/2006/relationships/tags" Target="../tags/tag6.xml"/><Relationship Id="rId30" Type="http://schemas.openxmlformats.org/officeDocument/2006/relationships/tags" Target="../tags/tag9.xml"/><Relationship Id="rId35" Type="http://schemas.openxmlformats.org/officeDocument/2006/relationships/tags" Target="../tags/tag14.xml"/><Relationship Id="rId43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4.xml"/><Relationship Id="rId33" Type="http://schemas.openxmlformats.org/officeDocument/2006/relationships/tags" Target="../tags/tag12.xml"/><Relationship Id="rId38" Type="http://schemas.openxmlformats.org/officeDocument/2006/relationships/tags" Target="../tags/tag17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3" imgW="413" imgH="416" progId="TCLayout.ActiveDocument.1">
                  <p:embed/>
                </p:oleObj>
              </mc:Choice>
              <mc:Fallback>
                <p:oleObj name="think-cell Slide" r:id="rId43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GB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3972" y="6227601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>
          <a:xfrm>
            <a:off x="381866" y="378691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1289273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 lvl="0"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6"/>
            </p:custDataLst>
          </p:nvPr>
        </p:nvSpPr>
        <p:spPr>
          <a:xfrm>
            <a:off x="5987738" y="2170800"/>
            <a:ext cx="3049253" cy="5693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/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Above Chart Exhibit Title</a:t>
            </a:r>
          </a:p>
          <a:p>
            <a:pPr lvl="0"/>
            <a:r>
              <a:rPr lang="en-US" b="0"/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865" y="1325707"/>
            <a:ext cx="11438659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4" name="Grid" hidden="1">
            <a:extLst>
              <a:ext uri="{FF2B5EF4-FFF2-40B4-BE49-F238E27FC236}">
                <a16:creationId xmlns:a16="http://schemas.microsoft.com/office/drawing/2014/main" id="{F251C73E-EB8B-244C-A909-D4936722431B}"/>
              </a:ext>
            </a:extLst>
          </p:cNvPr>
          <p:cNvPicPr>
            <a:picLocks noChangeAspect="1"/>
          </p:cNvPicPr>
          <p:nvPr userDrawn="1">
            <p:custDataLst>
              <p:tags r:id="rId27"/>
            </p:custDataLst>
          </p:nvPr>
        </p:nvPicPr>
        <p:blipFill>
          <a:blip r:embed="rId45"/>
          <a:stretch>
            <a:fillRect/>
          </a:stretch>
        </p:blipFill>
        <p:spPr>
          <a:xfrm>
            <a:off x="0" y="0"/>
            <a:ext cx="12184601" cy="6858000"/>
          </a:xfrm>
          <a:prstGeom prst="rect">
            <a:avLst/>
          </a:prstGeom>
        </p:spPr>
      </p:pic>
      <p:grpSp>
        <p:nvGrpSpPr>
          <p:cNvPr id="8" name="LegendLines" hidden="1">
            <a:extLst>
              <a:ext uri="{FF2B5EF4-FFF2-40B4-BE49-F238E27FC236}">
                <a16:creationId xmlns:a16="http://schemas.microsoft.com/office/drawing/2014/main" id="{ED939380-1C8D-0590-8A8E-91052282B693}"/>
              </a:ext>
            </a:extLst>
          </p:cNvPr>
          <p:cNvGrpSpPr/>
          <p:nvPr userDrawn="1"/>
        </p:nvGrpSpPr>
        <p:grpSpPr>
          <a:xfrm>
            <a:off x="10317304" y="3150223"/>
            <a:ext cx="1319960" cy="958286"/>
            <a:chOff x="10162879" y="3243772"/>
            <a:chExt cx="1319960" cy="958286"/>
          </a:xfrm>
        </p:grpSpPr>
        <p:sp>
          <p:nvSpPr>
            <p:cNvPr id="9" name="Legend1" hidden="1">
              <a:extLst>
                <a:ext uri="{FF2B5EF4-FFF2-40B4-BE49-F238E27FC236}">
                  <a16:creationId xmlns:a16="http://schemas.microsoft.com/office/drawing/2014/main" id="{50FF56E9-70B0-4EB1-F98E-3D1E4D11BD9C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400" noProof="0"/>
                <a:t>Legend</a:t>
              </a:r>
            </a:p>
          </p:txBody>
        </p:sp>
        <p:sp>
          <p:nvSpPr>
            <p:cNvPr id="10" name="Legend2" hidden="1">
              <a:extLst>
                <a:ext uri="{FF2B5EF4-FFF2-40B4-BE49-F238E27FC236}">
                  <a16:creationId xmlns:a16="http://schemas.microsoft.com/office/drawing/2014/main" id="{47E7E047-044A-D512-F256-27444F170E12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400" noProof="0"/>
                <a:t>Legend</a:t>
              </a:r>
            </a:p>
          </p:txBody>
        </p:sp>
        <p:sp>
          <p:nvSpPr>
            <p:cNvPr id="11" name="Legend3" hidden="1">
              <a:extLst>
                <a:ext uri="{FF2B5EF4-FFF2-40B4-BE49-F238E27FC236}">
                  <a16:creationId xmlns:a16="http://schemas.microsoft.com/office/drawing/2014/main" id="{08232F26-D9AC-8F8D-771C-81D7388DBC89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400" noProof="0"/>
                <a:t>Legend</a:t>
              </a:r>
            </a:p>
          </p:txBody>
        </p:sp>
        <p:sp>
          <p:nvSpPr>
            <p:cNvPr id="12" name="LineLegend3" hidden="1">
              <a:extLst>
                <a:ext uri="{FF2B5EF4-FFF2-40B4-BE49-F238E27FC236}">
                  <a16:creationId xmlns:a16="http://schemas.microsoft.com/office/drawing/2014/main" id="{D5674756-665B-8134-BCC1-5DFBC506834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GB" sz="1400" baseline="0" noProof="0"/>
            </a:p>
          </p:txBody>
        </p:sp>
        <p:sp>
          <p:nvSpPr>
            <p:cNvPr id="13" name="LineLegend2" hidden="1">
              <a:extLst>
                <a:ext uri="{FF2B5EF4-FFF2-40B4-BE49-F238E27FC236}">
                  <a16:creationId xmlns:a16="http://schemas.microsoft.com/office/drawing/2014/main" id="{6CE31001-47C3-0C04-EA35-82C94F662B9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GB" sz="1400" baseline="0" noProof="0"/>
            </a:p>
          </p:txBody>
        </p:sp>
        <p:sp>
          <p:nvSpPr>
            <p:cNvPr id="14" name="LineLegend1" hidden="1">
              <a:extLst>
                <a:ext uri="{FF2B5EF4-FFF2-40B4-BE49-F238E27FC236}">
                  <a16:creationId xmlns:a16="http://schemas.microsoft.com/office/drawing/2014/main" id="{6A35F6AB-F294-6933-02C0-6BDF6FFB26B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GB" sz="1400" baseline="0" noProof="0"/>
            </a:p>
          </p:txBody>
        </p:sp>
      </p:grpSp>
      <p:grpSp>
        <p:nvGrpSpPr>
          <p:cNvPr id="15" name="LegendMoons" hidden="1">
            <a:extLst>
              <a:ext uri="{FF2B5EF4-FFF2-40B4-BE49-F238E27FC236}">
                <a16:creationId xmlns:a16="http://schemas.microsoft.com/office/drawing/2014/main" id="{1F01466C-229A-5A8B-7ABB-0A3FF127F843}"/>
              </a:ext>
            </a:extLst>
          </p:cNvPr>
          <p:cNvGrpSpPr/>
          <p:nvPr userDrawn="1"/>
        </p:nvGrpSpPr>
        <p:grpSpPr>
          <a:xfrm>
            <a:off x="10688315" y="1145373"/>
            <a:ext cx="948949" cy="1731859"/>
            <a:chOff x="7723680" y="1702457"/>
            <a:chExt cx="948949" cy="1731859"/>
          </a:xfrm>
        </p:grpSpPr>
        <p:sp>
          <p:nvSpPr>
            <p:cNvPr id="17" name="Legend1" hidden="1">
              <a:extLst>
                <a:ext uri="{FF2B5EF4-FFF2-40B4-BE49-F238E27FC236}">
                  <a16:creationId xmlns:a16="http://schemas.microsoft.com/office/drawing/2014/main" id="{C00AC8C3-9B10-06C3-19C6-0191DDE2E73E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400" noProof="0"/>
                <a:t>Legend</a:t>
              </a:r>
            </a:p>
          </p:txBody>
        </p:sp>
        <p:sp>
          <p:nvSpPr>
            <p:cNvPr id="18" name="Legend2" hidden="1">
              <a:extLst>
                <a:ext uri="{FF2B5EF4-FFF2-40B4-BE49-F238E27FC236}">
                  <a16:creationId xmlns:a16="http://schemas.microsoft.com/office/drawing/2014/main" id="{E3D0F069-CC34-1299-5618-9814F2ABB3E0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400" noProof="0"/>
                <a:t>Legend</a:t>
              </a:r>
            </a:p>
          </p:txBody>
        </p:sp>
        <p:sp>
          <p:nvSpPr>
            <p:cNvPr id="19" name="Legend3" hidden="1">
              <a:extLst>
                <a:ext uri="{FF2B5EF4-FFF2-40B4-BE49-F238E27FC236}">
                  <a16:creationId xmlns:a16="http://schemas.microsoft.com/office/drawing/2014/main" id="{09BDD38B-319D-2B71-47E5-C38D24DDCE39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400" noProof="0"/>
                <a:t>Legend</a:t>
              </a:r>
            </a:p>
          </p:txBody>
        </p:sp>
        <p:sp>
          <p:nvSpPr>
            <p:cNvPr id="20" name="Legend4" hidden="1">
              <a:extLst>
                <a:ext uri="{FF2B5EF4-FFF2-40B4-BE49-F238E27FC236}">
                  <a16:creationId xmlns:a16="http://schemas.microsoft.com/office/drawing/2014/main" id="{9BCAE6C3-A77B-F555-CEB3-D7A4281F56D4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400" noProof="0"/>
                <a:t>Legend</a:t>
              </a:r>
            </a:p>
          </p:txBody>
        </p:sp>
        <p:sp>
          <p:nvSpPr>
            <p:cNvPr id="21" name="Legend5" hidden="1">
              <a:extLst>
                <a:ext uri="{FF2B5EF4-FFF2-40B4-BE49-F238E27FC236}">
                  <a16:creationId xmlns:a16="http://schemas.microsoft.com/office/drawing/2014/main" id="{10F250D3-641E-A729-CBFF-D9AFD82CA2D8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400" noProof="0"/>
                <a:t>Legend</a:t>
              </a:r>
            </a:p>
          </p:txBody>
        </p:sp>
        <p:grpSp>
          <p:nvGrpSpPr>
            <p:cNvPr id="22" name="MoonLegend1" hidden="1">
              <a:extLst>
                <a:ext uri="{FF2B5EF4-FFF2-40B4-BE49-F238E27FC236}">
                  <a16:creationId xmlns:a16="http://schemas.microsoft.com/office/drawing/2014/main" id="{AC1E9B31-B291-323C-47F6-76B6AF96E0C7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35" name="Oval 34" hidden="1">
                <a:extLst>
                  <a:ext uri="{FF2B5EF4-FFF2-40B4-BE49-F238E27FC236}">
                    <a16:creationId xmlns:a16="http://schemas.microsoft.com/office/drawing/2014/main" id="{D097B3E3-CD9F-C798-DA03-504ED8AAD039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Arc 35" hidden="1">
                <a:extLst>
                  <a:ext uri="{FF2B5EF4-FFF2-40B4-BE49-F238E27FC236}">
                    <a16:creationId xmlns:a16="http://schemas.microsoft.com/office/drawing/2014/main" id="{8F44E999-F8F5-063E-B629-E2C4B96338E6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400" noProof="0"/>
              </a:p>
            </p:txBody>
          </p:sp>
        </p:grpSp>
        <p:grpSp>
          <p:nvGrpSpPr>
            <p:cNvPr id="23" name="MoonLegend2" hidden="1">
              <a:extLst>
                <a:ext uri="{FF2B5EF4-FFF2-40B4-BE49-F238E27FC236}">
                  <a16:creationId xmlns:a16="http://schemas.microsoft.com/office/drawing/2014/main" id="{E6AE0D59-85F6-B124-660F-D9692B0D4C5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33" name="Oval 32" hidden="1">
                <a:extLst>
                  <a:ext uri="{FF2B5EF4-FFF2-40B4-BE49-F238E27FC236}">
                    <a16:creationId xmlns:a16="http://schemas.microsoft.com/office/drawing/2014/main" id="{BB210FCE-1681-FB29-5F08-F10E1CAA4B3A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Arc 33" hidden="1">
                <a:extLst>
                  <a:ext uri="{FF2B5EF4-FFF2-40B4-BE49-F238E27FC236}">
                    <a16:creationId xmlns:a16="http://schemas.microsoft.com/office/drawing/2014/main" id="{7B34A2C5-6849-BEE0-8165-E26333ED1B35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400" noProof="0"/>
              </a:p>
            </p:txBody>
          </p:sp>
        </p:grpSp>
        <p:grpSp>
          <p:nvGrpSpPr>
            <p:cNvPr id="24" name="MoonLegend3" hidden="1">
              <a:extLst>
                <a:ext uri="{FF2B5EF4-FFF2-40B4-BE49-F238E27FC236}">
                  <a16:creationId xmlns:a16="http://schemas.microsoft.com/office/drawing/2014/main" id="{EB42525A-BE66-D946-820E-85ABAAEF7EB9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31" name="Oval 30" hidden="1">
                <a:extLst>
                  <a:ext uri="{FF2B5EF4-FFF2-40B4-BE49-F238E27FC236}">
                    <a16:creationId xmlns:a16="http://schemas.microsoft.com/office/drawing/2014/main" id="{ED9D31EE-E6E9-5919-2C59-CED2A0B6355D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Arc 31" hidden="1">
                <a:extLst>
                  <a:ext uri="{FF2B5EF4-FFF2-40B4-BE49-F238E27FC236}">
                    <a16:creationId xmlns:a16="http://schemas.microsoft.com/office/drawing/2014/main" id="{1BACA61F-F3D2-F86E-7EF9-14D51FE7D53A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400" noProof="0"/>
              </a:p>
            </p:txBody>
          </p:sp>
        </p:grpSp>
        <p:grpSp>
          <p:nvGrpSpPr>
            <p:cNvPr id="25" name="MoonLegend4" hidden="1">
              <a:extLst>
                <a:ext uri="{FF2B5EF4-FFF2-40B4-BE49-F238E27FC236}">
                  <a16:creationId xmlns:a16="http://schemas.microsoft.com/office/drawing/2014/main" id="{9D706A88-E130-F8A1-BE68-EF6688C1C306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9" name="Oval 28" hidden="1">
                <a:extLst>
                  <a:ext uri="{FF2B5EF4-FFF2-40B4-BE49-F238E27FC236}">
                    <a16:creationId xmlns:a16="http://schemas.microsoft.com/office/drawing/2014/main" id="{318FAF85-8F80-C02C-9A12-34525EFCDEFE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Arc 29" hidden="1">
                <a:extLst>
                  <a:ext uri="{FF2B5EF4-FFF2-40B4-BE49-F238E27FC236}">
                    <a16:creationId xmlns:a16="http://schemas.microsoft.com/office/drawing/2014/main" id="{06058B8D-606B-DE94-40E1-D0397D8B592F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400" noProof="0"/>
              </a:p>
            </p:txBody>
          </p:sp>
        </p:grpSp>
        <p:grpSp>
          <p:nvGrpSpPr>
            <p:cNvPr id="26" name="MoonLegend5" hidden="1">
              <a:extLst>
                <a:ext uri="{FF2B5EF4-FFF2-40B4-BE49-F238E27FC236}">
                  <a16:creationId xmlns:a16="http://schemas.microsoft.com/office/drawing/2014/main" id="{C5750334-ED68-D6CD-4CDB-6B494EFF1264}"/>
                </a:ext>
              </a:extLst>
            </p:cNvPr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7" name="Oval 26" hidden="1">
                <a:extLst>
                  <a:ext uri="{FF2B5EF4-FFF2-40B4-BE49-F238E27FC236}">
                    <a16:creationId xmlns:a16="http://schemas.microsoft.com/office/drawing/2014/main" id="{A97EFD3A-C5F0-00A3-B3FF-13C43D59BBDA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Arc 27" hidden="1">
                <a:extLst>
                  <a:ext uri="{FF2B5EF4-FFF2-40B4-BE49-F238E27FC236}">
                    <a16:creationId xmlns:a16="http://schemas.microsoft.com/office/drawing/2014/main" id="{50197B00-8918-3C52-6C75-47A31A2A79C9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400" noProof="0"/>
              </a:p>
            </p:txBody>
          </p:sp>
        </p:grpSp>
      </p:grpSp>
      <p:grpSp>
        <p:nvGrpSpPr>
          <p:cNvPr id="37" name="LegendBoxes" hidden="1">
            <a:extLst>
              <a:ext uri="{FF2B5EF4-FFF2-40B4-BE49-F238E27FC236}">
                <a16:creationId xmlns:a16="http://schemas.microsoft.com/office/drawing/2014/main" id="{3E63D3E5-060D-61B3-8705-40E42317DA77}"/>
              </a:ext>
            </a:extLst>
          </p:cNvPr>
          <p:cNvGrpSpPr/>
          <p:nvPr userDrawn="1"/>
        </p:nvGrpSpPr>
        <p:grpSpPr>
          <a:xfrm>
            <a:off x="10714801" y="4381500"/>
            <a:ext cx="922463" cy="1717282"/>
            <a:chOff x="10652400" y="4322824"/>
            <a:chExt cx="922463" cy="1717282"/>
          </a:xfrm>
        </p:grpSpPr>
        <p:sp>
          <p:nvSpPr>
            <p:cNvPr id="38" name="RectangleLegend1" hidden="1">
              <a:extLst>
                <a:ext uri="{FF2B5EF4-FFF2-40B4-BE49-F238E27FC236}">
                  <a16:creationId xmlns:a16="http://schemas.microsoft.com/office/drawing/2014/main" id="{BDEC0DC2-CAEC-2041-1AD9-126359B145DF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400" noProof="0">
                <a:solidFill>
                  <a:schemeClr val="tx1"/>
                </a:solidFill>
              </a:endParaRPr>
            </a:p>
          </p:txBody>
        </p:sp>
        <p:sp>
          <p:nvSpPr>
            <p:cNvPr id="39" name="RectangleLegend2" hidden="1">
              <a:extLst>
                <a:ext uri="{FF2B5EF4-FFF2-40B4-BE49-F238E27FC236}">
                  <a16:creationId xmlns:a16="http://schemas.microsoft.com/office/drawing/2014/main" id="{2C8371C4-3AAE-56A9-7088-3B52EFA7100E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400" noProof="0">
                <a:solidFill>
                  <a:schemeClr val="tx1"/>
                </a:solidFill>
              </a:endParaRPr>
            </a:p>
          </p:txBody>
        </p:sp>
        <p:sp>
          <p:nvSpPr>
            <p:cNvPr id="40" name="RectangleLegend3" hidden="1">
              <a:extLst>
                <a:ext uri="{FF2B5EF4-FFF2-40B4-BE49-F238E27FC236}">
                  <a16:creationId xmlns:a16="http://schemas.microsoft.com/office/drawing/2014/main" id="{F228CEE3-FF4D-F53A-9A72-E6F25AFDCDF8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400" noProof="0">
                <a:solidFill>
                  <a:schemeClr val="tx1"/>
                </a:solidFill>
              </a:endParaRPr>
            </a:p>
          </p:txBody>
        </p:sp>
        <p:sp>
          <p:nvSpPr>
            <p:cNvPr id="41" name="RectangleLegend4" hidden="1">
              <a:extLst>
                <a:ext uri="{FF2B5EF4-FFF2-40B4-BE49-F238E27FC236}">
                  <a16:creationId xmlns:a16="http://schemas.microsoft.com/office/drawing/2014/main" id="{BF24B2C5-839F-CE55-7687-4C73E16D2F7D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400" noProof="0">
                <a:solidFill>
                  <a:schemeClr val="tx1"/>
                </a:solidFill>
              </a:endParaRPr>
            </a:p>
          </p:txBody>
        </p:sp>
        <p:sp>
          <p:nvSpPr>
            <p:cNvPr id="42" name="RectangleLegend5" hidden="1">
              <a:extLst>
                <a:ext uri="{FF2B5EF4-FFF2-40B4-BE49-F238E27FC236}">
                  <a16:creationId xmlns:a16="http://schemas.microsoft.com/office/drawing/2014/main" id="{14FA4D38-32B2-5280-D53E-86B1EE27DBE4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400" noProof="0">
                <a:solidFill>
                  <a:schemeClr val="tx1"/>
                </a:solidFill>
              </a:endParaRPr>
            </a:p>
          </p:txBody>
        </p:sp>
        <p:sp>
          <p:nvSpPr>
            <p:cNvPr id="43" name="Legend1" hidden="1">
              <a:extLst>
                <a:ext uri="{FF2B5EF4-FFF2-40B4-BE49-F238E27FC236}">
                  <a16:creationId xmlns:a16="http://schemas.microsoft.com/office/drawing/2014/main" id="{26561E1A-6CF0-12C0-F238-D840B020AF7C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400" noProof="0"/>
                <a:t>Legend</a:t>
              </a:r>
            </a:p>
          </p:txBody>
        </p:sp>
        <p:sp>
          <p:nvSpPr>
            <p:cNvPr id="44" name="Legend2" hidden="1">
              <a:extLst>
                <a:ext uri="{FF2B5EF4-FFF2-40B4-BE49-F238E27FC236}">
                  <a16:creationId xmlns:a16="http://schemas.microsoft.com/office/drawing/2014/main" id="{DDBF0608-BE04-B987-2107-2B90E5411E5A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400" noProof="0"/>
                <a:t>Legend</a:t>
              </a:r>
            </a:p>
          </p:txBody>
        </p:sp>
        <p:sp>
          <p:nvSpPr>
            <p:cNvPr id="45" name="Legend3" hidden="1">
              <a:extLst>
                <a:ext uri="{FF2B5EF4-FFF2-40B4-BE49-F238E27FC236}">
                  <a16:creationId xmlns:a16="http://schemas.microsoft.com/office/drawing/2014/main" id="{41FF2A19-4C93-790A-1996-428B3506FF42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400" noProof="0"/>
                <a:t>Legend</a:t>
              </a:r>
            </a:p>
          </p:txBody>
        </p:sp>
        <p:sp>
          <p:nvSpPr>
            <p:cNvPr id="46" name="Legend4" hidden="1">
              <a:extLst>
                <a:ext uri="{FF2B5EF4-FFF2-40B4-BE49-F238E27FC236}">
                  <a16:creationId xmlns:a16="http://schemas.microsoft.com/office/drawing/2014/main" id="{C85A49D4-606D-0452-A6D8-9D948021CCAF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400" noProof="0"/>
                <a:t>Legend</a:t>
              </a:r>
            </a:p>
          </p:txBody>
        </p:sp>
        <p:sp>
          <p:nvSpPr>
            <p:cNvPr id="151" name="Legend5" hidden="1">
              <a:extLst>
                <a:ext uri="{FF2B5EF4-FFF2-40B4-BE49-F238E27FC236}">
                  <a16:creationId xmlns:a16="http://schemas.microsoft.com/office/drawing/2014/main" id="{32C9C472-DD74-90B3-94EA-0C98D664A72E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400" noProof="0"/>
                <a:t>Legend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5084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38912" indent="-210312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5544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3816" indent="-146304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22" userDrawn="1">
          <p15:clr>
            <a:srgbClr val="5ACBF0"/>
          </p15:clr>
        </p15:guide>
        <p15:guide id="3" orient="horz" pos="3906" userDrawn="1">
          <p15:clr>
            <a:srgbClr val="5ACBF0"/>
          </p15:clr>
        </p15:guide>
        <p15:guide id="4" orient="horz" pos="232" userDrawn="1">
          <p15:clr>
            <a:srgbClr val="F26B43"/>
          </p15:clr>
        </p15:guide>
        <p15:guide id="5" pos="7446" userDrawn="1">
          <p15:clr>
            <a:srgbClr val="F26B43"/>
          </p15:clr>
        </p15:guide>
        <p15:guide id="6" pos="234" userDrawn="1">
          <p15:clr>
            <a:srgbClr val="F26B43"/>
          </p15:clr>
        </p15:guide>
        <p15:guide id="8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5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0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2_625DF7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6" hidden="1">
            <a:extLst>
              <a:ext uri="{FF2B5EF4-FFF2-40B4-BE49-F238E27FC236}">
                <a16:creationId xmlns:a16="http://schemas.microsoft.com/office/drawing/2014/main" id="{00BB32E2-DA94-CDD9-4F78-D33F68655CE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14" name="Object 6" hidden="1">
                        <a:extLst>
                          <a:ext uri="{FF2B5EF4-FFF2-40B4-BE49-F238E27FC236}">
                            <a16:creationId xmlns:a16="http://schemas.microsoft.com/office/drawing/2014/main" id="{00BB32E2-DA94-CDD9-4F78-D33F68655C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1">
            <a:extLst>
              <a:ext uri="{FF2B5EF4-FFF2-40B4-BE49-F238E27FC236}">
                <a16:creationId xmlns:a16="http://schemas.microsoft.com/office/drawing/2014/main" id="{A14E9276-91A0-55F0-8E92-FF4A0A8A1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8" y="4314350"/>
            <a:ext cx="5706154" cy="86177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/>
          <a:lstStyle/>
          <a:p>
            <a:r>
              <a:rPr sz="2800" dirty="0"/>
              <a:t>SDEC Capacity &amp; ED Streaming: </a:t>
            </a:r>
            <a:r>
              <a:rPr lang="en-US" sz="2800" dirty="0"/>
              <a:t>Data Analysis</a:t>
            </a:r>
            <a:endParaRPr sz="2800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153CE39-DFA6-2C08-7ED2-9C02A00FD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88" y="5297170"/>
            <a:ext cx="5706154" cy="446276"/>
          </a:xfrm>
        </p:spPr>
        <p:txBody>
          <a:bodyPr/>
          <a:lstStyle/>
          <a:p>
            <a:r>
              <a:t>13 July 2026</a:t>
            </a:r>
          </a:p>
        </p:txBody>
      </p:sp>
    </p:spTree>
    <p:extLst>
      <p:ext uri="{BB962C8B-B14F-4D97-AF65-F5344CB8AC3E}">
        <p14:creationId xmlns:p14="http://schemas.microsoft.com/office/powerpoint/2010/main" val="904476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>
            <a:spAutoFit/>
          </a:bodyPr>
          <a:lstStyle/>
          <a:p>
            <a:r>
              <a:rPr dirty="0"/>
              <a:t>ED Majors (Type 1) into SDEC pathways</a:t>
            </a:r>
            <a:r>
              <a:rPr lang="en-US" dirty="0"/>
              <a:t>: S</a:t>
            </a:r>
            <a:r>
              <a:rPr dirty="0"/>
              <a:t>ix months of hourly data, Jan</a:t>
            </a:r>
            <a:r>
              <a:rPr lang="en-US" dirty="0"/>
              <a:t>-</a:t>
            </a:r>
            <a:r>
              <a:rPr dirty="0"/>
              <a:t>Jul 2026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SDEC CAPACITY &amp; ED STREAMING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54736" y="519011"/>
            <a:ext cx="11082528" cy="384721"/>
          </a:xfrm>
        </p:spPr>
        <p:txBody>
          <a:bodyPr>
            <a:spAutoFit/>
          </a:bodyPr>
          <a:lstStyle/>
          <a:p>
            <a:r>
              <a:rPr lang="en-US" dirty="0"/>
              <a:t>SDEC </a:t>
            </a:r>
            <a:r>
              <a:rPr dirty="0"/>
              <a:t>Capacity exists</a:t>
            </a:r>
            <a:r>
              <a:rPr lang="en-US" dirty="0"/>
              <a:t>, but it’s limited in some services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58800" y="1498600"/>
            <a:ext cx="3935142" cy="3739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200"/>
              </a:spcAft>
              <a:buFont typeface="Wingdings" pitchFamily="2" charset="2"/>
              <a:buChar char="Ø"/>
            </a:pPr>
            <a:r>
              <a:rPr sz="1450" b="1" dirty="0">
                <a:solidFill>
                  <a:srgbClr val="1A1A1A"/>
                </a:solidFill>
                <a:latin typeface="Arial"/>
              </a:rPr>
              <a:t>The ask:</a:t>
            </a:r>
            <a:r>
              <a:rPr lang="en-GB" sz="1450" b="1" dirty="0">
                <a:solidFill>
                  <a:srgbClr val="1A1A1A"/>
                </a:solidFill>
                <a:latin typeface="Arial"/>
              </a:rPr>
              <a:t> </a:t>
            </a:r>
            <a:r>
              <a:rPr lang="en-GB" sz="1450" dirty="0">
                <a:solidFill>
                  <a:srgbClr val="1A1A1A"/>
                </a:solidFill>
                <a:latin typeface="Arial"/>
              </a:rPr>
              <a:t>W</a:t>
            </a:r>
            <a:r>
              <a:rPr sz="1450" b="0" dirty="0" err="1">
                <a:solidFill>
                  <a:srgbClr val="1A1A1A"/>
                </a:solidFill>
                <a:latin typeface="Arial"/>
              </a:rPr>
              <a:t>e've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</a:t>
            </a:r>
            <a:r>
              <a:rPr lang="en-GB" sz="1450" b="0" dirty="0">
                <a:solidFill>
                  <a:srgbClr val="1A1A1A"/>
                </a:solidFill>
                <a:latin typeface="Arial"/>
              </a:rPr>
              <a:t>been engaging staff across the ED on available non-admitted pathways, referral workflows, clinical and patient criteria, d</a:t>
            </a:r>
            <a:r>
              <a:rPr lang="en-GB" sz="1450" dirty="0">
                <a:solidFill>
                  <a:srgbClr val="1A1A1A"/>
                </a:solidFill>
                <a:latin typeface="Arial"/>
              </a:rPr>
              <a:t>esigned to increase numbers streamed from ED majors. </a:t>
            </a:r>
          </a:p>
          <a:p>
            <a:pPr marL="285750" indent="-285750">
              <a:lnSpc>
                <a:spcPct val="115000"/>
              </a:lnSpc>
              <a:spcAft>
                <a:spcPts val="200"/>
              </a:spcAft>
              <a:buFont typeface="Wingdings" pitchFamily="2" charset="2"/>
              <a:buChar char="Ø"/>
            </a:pPr>
            <a:r>
              <a:rPr sz="1450" b="1" dirty="0">
                <a:solidFill>
                  <a:srgbClr val="1A1A1A"/>
                </a:solidFill>
                <a:latin typeface="Arial"/>
              </a:rPr>
              <a:t>The result: </a:t>
            </a:r>
            <a:r>
              <a:rPr lang="en-GB" sz="1450" dirty="0">
                <a:solidFill>
                  <a:srgbClr val="1A1A1A"/>
                </a:solidFill>
                <a:latin typeface="Arial"/>
              </a:rPr>
              <a:t>Whilst there have been some increases from the 12-month baseline, recent trajectory is flat. </a:t>
            </a:r>
            <a:endParaRPr sz="1450" dirty="0">
              <a:solidFill>
                <a:srgbClr val="1A1A1A"/>
              </a:solidFill>
              <a:latin typeface="Arial"/>
            </a:endParaRPr>
          </a:p>
          <a:p>
            <a:pPr marL="285750" indent="-285750">
              <a:lnSpc>
                <a:spcPct val="115000"/>
              </a:lnSpc>
              <a:spcAft>
                <a:spcPts val="200"/>
              </a:spcAft>
              <a:buFont typeface="Wingdings" pitchFamily="2" charset="2"/>
              <a:buChar char="Ø"/>
            </a:pPr>
            <a:r>
              <a:rPr lang="en-GB" sz="1450" b="1" dirty="0">
                <a:solidFill>
                  <a:srgbClr val="1A1A1A"/>
                </a:solidFill>
                <a:latin typeface="Arial"/>
              </a:rPr>
              <a:t>What we heard: 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“there's often nowhere to stream to</a:t>
            </a:r>
            <a:r>
              <a:rPr lang="en-GB" sz="1450" b="0" dirty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the </a:t>
            </a:r>
            <a:r>
              <a:rPr lang="en-GB" sz="1450" b="0" dirty="0">
                <a:solidFill>
                  <a:srgbClr val="1A1A1A"/>
                </a:solidFill>
                <a:latin typeface="Arial"/>
              </a:rPr>
              <a:t>services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 are full.”</a:t>
            </a:r>
          </a:p>
          <a:p>
            <a:pPr marL="285750" indent="-285750">
              <a:lnSpc>
                <a:spcPct val="115000"/>
              </a:lnSpc>
              <a:spcAft>
                <a:spcPts val="200"/>
              </a:spcAft>
              <a:buFont typeface="Wingdings" pitchFamily="2" charset="2"/>
              <a:buChar char="Ø"/>
            </a:pPr>
            <a:r>
              <a:rPr sz="1450" b="1" dirty="0">
                <a:solidFill>
                  <a:srgbClr val="1A1A1A"/>
                </a:solidFill>
                <a:latin typeface="Arial"/>
              </a:rPr>
              <a:t>What we did: </a:t>
            </a:r>
            <a:r>
              <a:rPr sz="1450" b="0" dirty="0">
                <a:solidFill>
                  <a:srgbClr val="1A1A1A"/>
                </a:solidFill>
                <a:latin typeface="Arial"/>
              </a:rPr>
              <a:t>tested against six months of hourly occupancy data (SAU, EAU3, EAU4) and attendance data (Clinic 5, DVT Clinic).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8801" y="5648014"/>
            <a:ext cx="11074400" cy="787400"/>
          </a:xfrm>
          <a:prstGeom prst="roundRect">
            <a:avLst>
              <a:gd name="adj" fmla="val 6000"/>
            </a:avLst>
          </a:prstGeom>
          <a:solidFill>
            <a:srgbClr val="C8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bIns="228600" rtlCol="0" anchor="ctr"/>
          <a:lstStyle/>
          <a:p>
            <a:pPr algn="l"/>
            <a:r>
              <a:rPr lang="en-GB" sz="1500" b="1" dirty="0">
                <a:solidFill>
                  <a:srgbClr val="0B4A3B"/>
                </a:solidFill>
                <a:latin typeface="Arial"/>
              </a:rPr>
              <a:t>Conclusion</a:t>
            </a:r>
            <a:r>
              <a:rPr sz="1500" b="1" dirty="0">
                <a:solidFill>
                  <a:srgbClr val="0B4A3B"/>
                </a:solidFill>
                <a:latin typeface="Arial"/>
              </a:rPr>
              <a:t>:</a:t>
            </a:r>
            <a:r>
              <a:rPr lang="en-GB" sz="1500" b="1" dirty="0">
                <a:solidFill>
                  <a:srgbClr val="0B4A3B"/>
                </a:solidFill>
                <a:latin typeface="Arial"/>
              </a:rPr>
              <a:t> </a:t>
            </a:r>
            <a:r>
              <a:rPr lang="en-GB" sz="1500" dirty="0">
                <a:solidFill>
                  <a:srgbClr val="0B4A3B"/>
                </a:solidFill>
                <a:latin typeface="Arial"/>
              </a:rPr>
              <a:t>there is some capacity but it’s not consistent, and operational issues stops effective streaming. </a:t>
            </a:r>
            <a:r>
              <a:rPr sz="1500" b="0" dirty="0">
                <a:solidFill>
                  <a:srgbClr val="0B4A3B"/>
                </a:solidFill>
                <a:latin typeface="Arial"/>
              </a:rPr>
              <a:t>SAU and EAU3 </a:t>
            </a:r>
            <a:r>
              <a:rPr lang="en-GB" sz="1500" b="0" dirty="0">
                <a:solidFill>
                  <a:srgbClr val="0B4A3B"/>
                </a:solidFill>
                <a:latin typeface="Arial"/>
              </a:rPr>
              <a:t>have theoretical </a:t>
            </a:r>
            <a:r>
              <a:rPr sz="1500" b="0" dirty="0">
                <a:solidFill>
                  <a:srgbClr val="0B4A3B"/>
                </a:solidFill>
                <a:latin typeface="Arial"/>
              </a:rPr>
              <a:t>daytime </a:t>
            </a:r>
            <a:r>
              <a:rPr lang="en-GB" sz="1500" b="0" dirty="0">
                <a:solidFill>
                  <a:srgbClr val="0B4A3B"/>
                </a:solidFill>
                <a:latin typeface="Arial"/>
              </a:rPr>
              <a:t>capacity</a:t>
            </a:r>
            <a:r>
              <a:rPr sz="1500" b="0" dirty="0">
                <a:solidFill>
                  <a:srgbClr val="0B4A3B"/>
                </a:solidFill>
                <a:latin typeface="Arial"/>
              </a:rPr>
              <a:t>; EAU4 is </a:t>
            </a:r>
            <a:r>
              <a:rPr lang="en-GB" sz="1500" b="0" dirty="0">
                <a:solidFill>
                  <a:srgbClr val="0B4A3B"/>
                </a:solidFill>
                <a:latin typeface="Arial"/>
              </a:rPr>
              <a:t>typically</a:t>
            </a:r>
            <a:r>
              <a:rPr sz="1500" b="0" dirty="0">
                <a:solidFill>
                  <a:srgbClr val="0B4A3B"/>
                </a:solidFill>
                <a:latin typeface="Arial"/>
              </a:rPr>
              <a:t> full; Clinic 5</a:t>
            </a:r>
            <a:r>
              <a:rPr lang="en-GB" sz="1500" b="0" dirty="0">
                <a:solidFill>
                  <a:srgbClr val="0B4A3B"/>
                </a:solidFill>
                <a:latin typeface="Arial"/>
              </a:rPr>
              <a:t> requires</a:t>
            </a:r>
            <a:r>
              <a:rPr lang="en-GB" sz="1500" dirty="0">
                <a:solidFill>
                  <a:srgbClr val="0B4A3B"/>
                </a:solidFill>
                <a:latin typeface="Arial"/>
              </a:rPr>
              <a:t> </a:t>
            </a:r>
            <a:r>
              <a:rPr lang="en-GB" sz="1500" b="0" dirty="0">
                <a:solidFill>
                  <a:srgbClr val="0B4A3B"/>
                </a:solidFill>
                <a:latin typeface="Arial"/>
              </a:rPr>
              <a:t>additional data validation.</a:t>
            </a:r>
            <a:endParaRPr sz="1500" b="0" dirty="0">
              <a:solidFill>
                <a:srgbClr val="0B4A3B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4735" y="6501669"/>
            <a:ext cx="72778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5F63"/>
                </a:solidFill>
                <a:latin typeface="Arial"/>
              </a:rPr>
              <a:t>Source: verbal feedback via ED/Flow Programme engagement; hourly occupancy and attendance data, Jan–Jul 2026.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AA01F22F-8F97-301F-2122-0C9F6E9381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693881"/>
              </p:ext>
            </p:extLst>
          </p:nvPr>
        </p:nvGraphicFramePr>
        <p:xfrm>
          <a:off x="4683513" y="1296263"/>
          <a:ext cx="6949688" cy="42209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47681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spAutoFit/>
          </a:bodyPr>
          <a:lstStyle/>
          <a:p>
            <a:r>
              <a:rPr dirty="0"/>
              <a:t>Average % of stated capacity occupied, Jan</a:t>
            </a:r>
            <a:r>
              <a:rPr lang="en-US" dirty="0"/>
              <a:t>-</a:t>
            </a:r>
            <a:r>
              <a:rPr dirty="0"/>
              <a:t>Jul 2026 (192 days) · SAU: 30 </a:t>
            </a:r>
            <a:r>
              <a:rPr lang="en-US" dirty="0"/>
              <a:t>chairs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SDEC CAPACITY &amp; ED STREAMING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736" y="519011"/>
            <a:ext cx="11082528" cy="384721"/>
          </a:xfrm>
        </p:spPr>
        <p:txBody>
          <a:bodyPr>
            <a:spAutoFit/>
          </a:bodyPr>
          <a:lstStyle/>
          <a:p>
            <a:r>
              <a:rPr lang="en-US" dirty="0"/>
              <a:t>Data shows </a:t>
            </a:r>
            <a:r>
              <a:rPr dirty="0"/>
              <a:t>SAU </a:t>
            </a:r>
            <a:r>
              <a:rPr lang="en-US" dirty="0"/>
              <a:t>presents an </a:t>
            </a:r>
            <a:r>
              <a:rPr dirty="0"/>
              <a:t>opportunity</a:t>
            </a:r>
            <a:r>
              <a:rPr lang="en-US" dirty="0"/>
              <a:t> for increased surgical take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58800" y="1295400"/>
            <a:ext cx="5245100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1A1A1A"/>
                </a:solidFill>
                <a:latin typeface="Arial"/>
              </a:rPr>
              <a:t>Surgical and Medical Assessment Units</a:t>
            </a:r>
            <a:endParaRPr sz="1400" b="1" dirty="0">
              <a:solidFill>
                <a:srgbClr val="1A1A1A"/>
              </a:solidFill>
              <a:latin typeface="Arial"/>
            </a:endParaRPr>
          </a:p>
          <a:p>
            <a:pPr>
              <a:spcBef>
                <a:spcPts val="200"/>
              </a:spcBef>
            </a:pPr>
            <a:r>
              <a:rPr sz="3200" b="1" dirty="0">
                <a:solidFill>
                  <a:srgbClr val="1D9A78"/>
                </a:solidFill>
                <a:latin typeface="Arial"/>
              </a:rPr>
              <a:t>2 of 3</a:t>
            </a:r>
          </a:p>
          <a:p>
            <a:pPr>
              <a:spcBef>
                <a:spcPts val="200"/>
              </a:spcBef>
            </a:pPr>
            <a:r>
              <a:rPr lang="en-GB" sz="1200" dirty="0">
                <a:solidFill>
                  <a:srgbClr val="5A5F63"/>
                </a:solidFill>
                <a:latin typeface="Arial"/>
              </a:rPr>
              <a:t>Services </a:t>
            </a:r>
            <a:r>
              <a:rPr sz="1200" dirty="0">
                <a:solidFill>
                  <a:srgbClr val="5A5F63"/>
                </a:solidFill>
                <a:latin typeface="Arial"/>
              </a:rPr>
              <a:t>units show sustained daytime headroom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" y="5207000"/>
            <a:ext cx="5245100" cy="1181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Ø"/>
            </a:pPr>
            <a:r>
              <a:rPr sz="1350" b="1" dirty="0">
                <a:solidFill>
                  <a:srgbClr val="1A1A1A"/>
                </a:solidFill>
                <a:latin typeface="Arial"/>
              </a:rPr>
              <a:t>EAU4 is the exception</a:t>
            </a:r>
            <a:r>
              <a:rPr lang="en-GB" sz="1350" b="1" dirty="0">
                <a:solidFill>
                  <a:srgbClr val="1A1A1A"/>
                </a:solidFill>
                <a:latin typeface="Arial"/>
              </a:rPr>
              <a:t>: </a:t>
            </a:r>
            <a:r>
              <a:rPr sz="1350" b="0" dirty="0">
                <a:solidFill>
                  <a:srgbClr val="1A1A1A"/>
                </a:solidFill>
                <a:latin typeface="Arial"/>
              </a:rPr>
              <a:t>93–96% occupied continuously, confirming feedback.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Ø"/>
            </a:pPr>
            <a:r>
              <a:rPr sz="1350" b="1" dirty="0">
                <a:solidFill>
                  <a:srgbClr val="1A1A1A"/>
                </a:solidFill>
                <a:latin typeface="Arial"/>
              </a:rPr>
              <a:t>Clinic 5</a:t>
            </a:r>
            <a:r>
              <a:rPr lang="en-GB" sz="1350" b="1" dirty="0">
                <a:solidFill>
                  <a:srgbClr val="1A1A1A"/>
                </a:solidFill>
                <a:latin typeface="Arial"/>
              </a:rPr>
              <a:t>: ongoing work to confirm appointment slot utilisation. </a:t>
            </a:r>
            <a:r>
              <a:rPr sz="1350" b="1" dirty="0">
                <a:solidFill>
                  <a:srgbClr val="1A1A1A"/>
                </a:solidFill>
                <a:latin typeface="Arial"/>
              </a:rPr>
              <a:t> </a:t>
            </a:r>
            <a:endParaRPr sz="1350" b="0" dirty="0">
              <a:solidFill>
                <a:srgbClr val="1A1A1A"/>
              </a:solidFill>
              <a:latin typeface="Arial"/>
            </a:endParaRPr>
          </a:p>
        </p:txBody>
      </p:sp>
      <p:pic>
        <p:nvPicPr>
          <p:cNvPr id="7" name="Picture 6" descr="chart_s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100" y="2300001"/>
            <a:ext cx="5245100" cy="269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4735" y="6499225"/>
            <a:ext cx="72778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 dirty="0">
                <a:solidFill>
                  <a:srgbClr val="5A5F63"/>
                </a:solidFill>
                <a:latin typeface="Arial"/>
              </a:rPr>
              <a:t>Source: CHEQS SAU / EAU3 / EAU4 hourly occupancy data, Jan–Jul 2026. EAU3: 36-chair capacity confirmed; operational and workforce factors mean not all chairs are staffed/available every day - not visible in this data.</a:t>
            </a:r>
          </a:p>
        </p:txBody>
      </p:sp>
      <p:sp>
        <p:nvSpPr>
          <p:cNvPr id="40" name="SAU stat"/>
          <p:cNvSpPr txBox="1"/>
          <p:nvPr/>
        </p:nvSpPr>
        <p:spPr>
          <a:xfrm>
            <a:off x="6388100" y="1295400"/>
            <a:ext cx="5245100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A1A1A"/>
                </a:solidFill>
                <a:latin typeface="Arial"/>
              </a:rPr>
              <a:t>SAU </a:t>
            </a:r>
            <a:r>
              <a:rPr lang="en-GB" sz="1400" b="1" dirty="0">
                <a:solidFill>
                  <a:srgbClr val="1A1A1A"/>
                </a:solidFill>
                <a:latin typeface="Arial"/>
              </a:rPr>
              <a:t>-</a:t>
            </a:r>
            <a:r>
              <a:rPr sz="1400" b="1" dirty="0">
                <a:solidFill>
                  <a:srgbClr val="1A1A1A"/>
                </a:solidFill>
                <a:latin typeface="Arial"/>
              </a:rPr>
              <a:t> Surgical Assessment Unit</a:t>
            </a:r>
          </a:p>
          <a:p>
            <a:pPr>
              <a:spcBef>
                <a:spcPts val="200"/>
              </a:spcBef>
            </a:pPr>
            <a:r>
              <a:rPr sz="3200" b="1" dirty="0">
                <a:solidFill>
                  <a:srgbClr val="1D9A78"/>
                </a:solidFill>
                <a:latin typeface="Arial"/>
              </a:rPr>
              <a:t>35%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5A5F63"/>
                </a:solidFill>
                <a:latin typeface="Arial"/>
              </a:rPr>
              <a:t>average occupied, all hours, all days</a:t>
            </a:r>
          </a:p>
        </p:txBody>
      </p:sp>
      <p:sp>
        <p:nvSpPr>
          <p:cNvPr id="41" name="SAU bullets"/>
          <p:cNvSpPr txBox="1"/>
          <p:nvPr/>
        </p:nvSpPr>
        <p:spPr>
          <a:xfrm>
            <a:off x="6388100" y="5207000"/>
            <a:ext cx="5245100" cy="1420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Ø"/>
            </a:pPr>
            <a:r>
              <a:rPr sz="1350" b="1" dirty="0">
                <a:solidFill>
                  <a:srgbClr val="1A1A1A"/>
                </a:solidFill>
                <a:latin typeface="Arial"/>
              </a:rPr>
              <a:t>Weekday peak is just 62% (19 of 30 chairs) at 14:00</a:t>
            </a:r>
            <a:r>
              <a:rPr sz="1350" b="0" dirty="0">
                <a:solidFill>
                  <a:srgbClr val="1A1A1A"/>
                </a:solidFill>
                <a:latin typeface="Arial"/>
              </a:rPr>
              <a:t> - and occupancy stays under 50% for ~3 in 4 hours.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1350" b="1" dirty="0">
                <a:solidFill>
                  <a:srgbClr val="1A1A1A"/>
                </a:solidFill>
                <a:latin typeface="Arial"/>
              </a:rPr>
              <a:t>Provision is 30 chairs: </a:t>
            </a:r>
            <a:r>
              <a:rPr lang="en-GB" sz="1350" dirty="0">
                <a:solidFill>
                  <a:srgbClr val="1A1A1A"/>
                </a:solidFill>
                <a:latin typeface="Arial"/>
              </a:rPr>
              <a:t>Anecdotal evidence that is there are a limited number of surgical presentations suitable for sitting in a chair.</a:t>
            </a:r>
          </a:p>
        </p:txBody>
      </p:sp>
      <p:sp>
        <p:nvSpPr>
          <p:cNvPr id="42" name="Divider"/>
          <p:cNvSpPr/>
          <p:nvPr/>
        </p:nvSpPr>
        <p:spPr>
          <a:xfrm>
            <a:off x="6096000" y="1371600"/>
            <a:ext cx="28575" cy="4978400"/>
          </a:xfrm>
          <a:prstGeom prst="rect">
            <a:avLst/>
          </a:prstGeom>
          <a:solidFill>
            <a:srgbClr val="A9B0AD"/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131" name="Overview chart"/>
          <p:cNvGraphicFramePr/>
          <p:nvPr/>
        </p:nvGraphicFramePr>
        <p:xfrm>
          <a:off x="558800" y="2413000"/>
          <a:ext cx="5245100" cy="269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03163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4736" y="919250"/>
            <a:ext cx="11082528" cy="246221"/>
          </a:xfrm>
        </p:spPr>
        <p:txBody>
          <a:bodyPr>
            <a:spAutoFit/>
          </a:bodyPr>
          <a:lstStyle/>
          <a:p>
            <a:r>
              <a:rPr dirty="0"/>
              <a:t>Hourly occupancy, Jan–Jul 2026 · EAU3: 26 core / 30 extended | EAU4 = 25 trolleys + 3 side rooms (28)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SDEC CAPACITY &amp; ED STREAMING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736" y="519011"/>
            <a:ext cx="11082528" cy="384721"/>
          </a:xfrm>
        </p:spPr>
        <p:txBody>
          <a:bodyPr>
            <a:spAutoFit/>
          </a:bodyPr>
          <a:lstStyle/>
          <a:p>
            <a:r>
              <a:rPr dirty="0"/>
              <a:t>EAU3 has real daytime </a:t>
            </a:r>
            <a:r>
              <a:rPr lang="en-US" dirty="0"/>
              <a:t>capacity with EAU4 operating at capacity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58800" y="1295400"/>
            <a:ext cx="5245100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A1A1A"/>
                </a:solidFill>
                <a:latin typeface="Arial"/>
              </a:rPr>
              <a:t>EAU3</a:t>
            </a:r>
          </a:p>
          <a:p>
            <a:pPr>
              <a:spcBef>
                <a:spcPts val="200"/>
              </a:spcBef>
            </a:pPr>
            <a:r>
              <a:rPr sz="3200" b="1" dirty="0">
                <a:solidFill>
                  <a:srgbClr val="0067A4"/>
                </a:solidFill>
                <a:latin typeface="Arial"/>
              </a:rPr>
              <a:t>42–69%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5A5F63"/>
                </a:solidFill>
                <a:latin typeface="Arial"/>
              </a:rPr>
              <a:t>of 26-chair core capacity (30 extended)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4735" y="4975474"/>
            <a:ext cx="5245100" cy="1543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800"/>
              </a:spcAft>
              <a:buFont typeface="Wingdings" pitchFamily="2" charset="2"/>
              <a:buChar char="Ø"/>
            </a:pPr>
            <a:r>
              <a:rPr lang="en-GB" sz="1300" b="1" dirty="0">
                <a:solidFill>
                  <a:srgbClr val="1A1A1A"/>
                </a:solidFill>
                <a:latin typeface="Arial"/>
              </a:rPr>
              <a:t>Extended capacity (30) </a:t>
            </a:r>
            <a:r>
              <a:rPr lang="en-GB" sz="1300" b="0" dirty="0">
                <a:solidFill>
                  <a:srgbClr val="1A1A1A"/>
                </a:solidFill>
                <a:latin typeface="Arial"/>
              </a:rPr>
              <a:t>- reached 30+ chairs in 11 of 4,608 hours (0.2%); rarely needed.</a:t>
            </a:r>
          </a:p>
          <a:p>
            <a:pPr marL="285750" indent="-285750">
              <a:lnSpc>
                <a:spcPct val="105000"/>
              </a:lnSpc>
              <a:spcAft>
                <a:spcPts val="800"/>
              </a:spcAft>
              <a:buFont typeface="Wingdings" pitchFamily="2" charset="2"/>
              <a:buChar char="Ø"/>
            </a:pPr>
            <a:r>
              <a:rPr lang="en-GB" sz="1300" b="1" dirty="0">
                <a:solidFill>
                  <a:srgbClr val="1A1A1A"/>
                </a:solidFill>
                <a:latin typeface="Arial"/>
              </a:rPr>
              <a:t>More constrained from 18:00</a:t>
            </a:r>
            <a:r>
              <a:rPr lang="en-GB" sz="1300" b="0" dirty="0">
                <a:solidFill>
                  <a:srgbClr val="1A1A1A"/>
                </a:solidFill>
                <a:latin typeface="Arial"/>
              </a:rPr>
              <a:t> — peak of 21 (81% core / 70% extended).</a:t>
            </a:r>
          </a:p>
          <a:p>
            <a:pPr marL="285750" indent="-285750">
              <a:lnSpc>
                <a:spcPct val="105000"/>
              </a:lnSpc>
              <a:spcAft>
                <a:spcPts val="800"/>
              </a:spcAft>
              <a:buFont typeface="Wingdings" pitchFamily="2" charset="2"/>
              <a:buChar char="Ø"/>
            </a:pPr>
            <a:r>
              <a:rPr lang="en-GB" sz="1300" b="1" dirty="0">
                <a:solidFill>
                  <a:srgbClr val="1A1A1A"/>
                </a:solidFill>
                <a:latin typeface="Arial"/>
              </a:rPr>
              <a:t>Operational/workforce factors: </a:t>
            </a:r>
            <a:r>
              <a:rPr lang="en-GB" sz="1300" dirty="0">
                <a:solidFill>
                  <a:srgbClr val="1A1A1A"/>
                </a:solidFill>
                <a:latin typeface="Arial"/>
              </a:rPr>
              <a:t>not all chairs staffed daily - not visible in this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4735" y="6501669"/>
            <a:ext cx="727786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 dirty="0">
                <a:solidFill>
                  <a:srgbClr val="5A5F63"/>
                </a:solidFill>
                <a:latin typeface="Arial"/>
              </a:rPr>
              <a:t>Source: </a:t>
            </a:r>
            <a:r>
              <a:rPr lang="en-GB" sz="900" i="1" dirty="0">
                <a:solidFill>
                  <a:srgbClr val="5A5F63"/>
                </a:solidFill>
                <a:latin typeface="Arial"/>
              </a:rPr>
              <a:t>CHEQS </a:t>
            </a:r>
            <a:r>
              <a:rPr sz="900" i="1" dirty="0">
                <a:solidFill>
                  <a:srgbClr val="5A5F63"/>
                </a:solidFill>
                <a:latin typeface="Arial"/>
              </a:rPr>
              <a:t>EAU3 &amp; EAU4 Hourly Occupancy. </a:t>
            </a:r>
            <a:r>
              <a:rPr lang="en-GB" sz="900" i="1" dirty="0">
                <a:solidFill>
                  <a:srgbClr val="5A5F63"/>
                </a:solidFill>
                <a:latin typeface="Arial"/>
              </a:rPr>
              <a:t>-</a:t>
            </a:r>
            <a:r>
              <a:rPr sz="900" i="1" dirty="0">
                <a:solidFill>
                  <a:srgbClr val="5A5F63"/>
                </a:solidFill>
                <a:latin typeface="Arial"/>
              </a:rPr>
              <a:t> 192 days, Jan–Jul 2026. EAU3</a:t>
            </a:r>
            <a:r>
              <a:rPr lang="en-GB" sz="900" i="1" dirty="0">
                <a:solidFill>
                  <a:srgbClr val="5A5F63"/>
                </a:solidFill>
                <a:latin typeface="Arial"/>
              </a:rPr>
              <a:t>.</a:t>
            </a:r>
            <a:endParaRPr sz="900" i="1" dirty="0">
              <a:solidFill>
                <a:srgbClr val="5A5F63"/>
              </a:solidFill>
              <a:latin typeface="Arial"/>
            </a:endParaRPr>
          </a:p>
        </p:txBody>
      </p:sp>
      <p:sp>
        <p:nvSpPr>
          <p:cNvPr id="40" name="EAU4 stat"/>
          <p:cNvSpPr txBox="1"/>
          <p:nvPr/>
        </p:nvSpPr>
        <p:spPr>
          <a:xfrm>
            <a:off x="6388100" y="1295400"/>
            <a:ext cx="5245100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A1A1A"/>
                </a:solidFill>
                <a:latin typeface="Arial"/>
              </a:rPr>
              <a:t>EAU4</a:t>
            </a:r>
          </a:p>
          <a:p>
            <a:pPr>
              <a:spcBef>
                <a:spcPts val="200"/>
              </a:spcBef>
            </a:pPr>
            <a:r>
              <a:rPr sz="3200" b="1" dirty="0">
                <a:solidFill>
                  <a:srgbClr val="F19D19"/>
                </a:solidFill>
                <a:latin typeface="Arial"/>
              </a:rPr>
              <a:t>93–96%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5A5F63"/>
                </a:solidFill>
                <a:latin typeface="Arial"/>
              </a:rPr>
              <a:t>occupied continuously </a:t>
            </a:r>
            <a:r>
              <a:rPr lang="en-GB" sz="1200" dirty="0">
                <a:solidFill>
                  <a:srgbClr val="5A5F63"/>
                </a:solidFill>
                <a:latin typeface="Arial"/>
              </a:rPr>
              <a:t>-</a:t>
            </a:r>
            <a:r>
              <a:rPr sz="1200" dirty="0">
                <a:solidFill>
                  <a:srgbClr val="5A5F63"/>
                </a:solidFill>
                <a:latin typeface="Arial"/>
              </a:rPr>
              <a:t> weekdays and weekends</a:t>
            </a:r>
          </a:p>
        </p:txBody>
      </p:sp>
      <p:sp>
        <p:nvSpPr>
          <p:cNvPr id="41" name="EAU4 bullets"/>
          <p:cNvSpPr txBox="1"/>
          <p:nvPr/>
        </p:nvSpPr>
        <p:spPr>
          <a:xfrm>
            <a:off x="6384035" y="4975474"/>
            <a:ext cx="5245100" cy="1420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Ø"/>
            </a:pPr>
            <a:r>
              <a:rPr sz="1350" b="1" dirty="0">
                <a:solidFill>
                  <a:srgbClr val="1A1A1A"/>
                </a:solidFill>
                <a:latin typeface="Arial"/>
              </a:rPr>
              <a:t>The data confirms the feedback</a:t>
            </a:r>
            <a:r>
              <a:rPr lang="en-GB" sz="1350" b="1" dirty="0">
                <a:solidFill>
                  <a:srgbClr val="1A1A1A"/>
                </a:solidFill>
                <a:latin typeface="Arial"/>
              </a:rPr>
              <a:t> </a:t>
            </a:r>
            <a:r>
              <a:rPr lang="en-GB" sz="1350" dirty="0">
                <a:solidFill>
                  <a:srgbClr val="1A1A1A"/>
                </a:solidFill>
                <a:latin typeface="Arial"/>
              </a:rPr>
              <a:t>-</a:t>
            </a:r>
            <a:r>
              <a:rPr lang="en-GB" sz="1350" b="1" dirty="0">
                <a:solidFill>
                  <a:srgbClr val="1A1A1A"/>
                </a:solidFill>
                <a:latin typeface="Arial"/>
              </a:rPr>
              <a:t> </a:t>
            </a:r>
            <a:r>
              <a:rPr sz="1350" b="0" dirty="0">
                <a:solidFill>
                  <a:srgbClr val="1A1A1A"/>
                </a:solidFill>
                <a:latin typeface="Arial"/>
              </a:rPr>
              <a:t>at or near capacity almost</a:t>
            </a:r>
            <a:r>
              <a:rPr lang="en-GB" sz="1350" b="0" dirty="0">
                <a:solidFill>
                  <a:srgbClr val="1A1A1A"/>
                </a:solidFill>
                <a:latin typeface="Arial"/>
              </a:rPr>
              <a:t> every hour of every day</a:t>
            </a:r>
            <a:r>
              <a:rPr lang="en-GB" sz="1350" dirty="0">
                <a:solidFill>
                  <a:srgbClr val="1A1A1A"/>
                </a:solidFill>
                <a:latin typeface="Arial"/>
              </a:rPr>
              <a:t>. 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1350" b="1" dirty="0">
                <a:solidFill>
                  <a:srgbClr val="1A1A1A"/>
                </a:solidFill>
                <a:latin typeface="Arial"/>
              </a:rPr>
              <a:t>What this means: </a:t>
            </a:r>
            <a:r>
              <a:rPr lang="en-GB" sz="1350" dirty="0">
                <a:solidFill>
                  <a:srgbClr val="1A1A1A"/>
                </a:solidFill>
                <a:latin typeface="Arial"/>
              </a:rPr>
              <a:t>More acutely unwell patients are more likely to be directly admitted through EAU5 or direct to specialty wards.</a:t>
            </a:r>
            <a:endParaRPr lang="en-GB" sz="1350" b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42" name="Divider"/>
          <p:cNvSpPr/>
          <p:nvPr/>
        </p:nvSpPr>
        <p:spPr>
          <a:xfrm>
            <a:off x="6096000" y="1371600"/>
            <a:ext cx="28575" cy="4978400"/>
          </a:xfrm>
          <a:prstGeom prst="rect">
            <a:avLst/>
          </a:prstGeom>
          <a:solidFill>
            <a:srgbClr val="A9B0AD"/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50" name="EAU3 hourly chart"/>
          <p:cNvGraphicFramePr/>
          <p:nvPr/>
        </p:nvGraphicFramePr>
        <p:xfrm>
          <a:off x="558800" y="2311400"/>
          <a:ext cx="5245100" cy="269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0" name="EAU4 hourly chart"/>
          <p:cNvGraphicFramePr/>
          <p:nvPr/>
        </p:nvGraphicFramePr>
        <p:xfrm>
          <a:off x="6388100" y="2311400"/>
          <a:ext cx="5245100" cy="269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38053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Appointment-based SDEC, not bed-based · daily attendances by day of week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SDEC CAPACITY &amp; ED STREAMING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 5 &amp; DVT: a different model, and a data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4735" y="2155000"/>
            <a:ext cx="4742093" cy="280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Wingdings" pitchFamily="2" charset="2"/>
              <a:buChar char="Ø"/>
            </a:pPr>
            <a:r>
              <a:rPr sz="1400" b="1" dirty="0">
                <a:solidFill>
                  <a:srgbClr val="1A1A1A"/>
                </a:solidFill>
                <a:latin typeface="Arial"/>
              </a:rPr>
              <a:t>Clinic 5 runs ~50–60 attendances/day Mon–Fri, 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dropping to ~13/day at weekends </a:t>
            </a:r>
            <a:r>
              <a:rPr lang="en-GB" sz="1400" b="0" dirty="0">
                <a:solidFill>
                  <a:srgbClr val="1A1A1A"/>
                </a:solidFill>
                <a:latin typeface="Arial"/>
              </a:rPr>
              <a:t>-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 consistent with a service close to its weekday limit.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Wingdings" pitchFamily="2" charset="2"/>
              <a:buChar char="Ø"/>
            </a:pPr>
            <a:r>
              <a:rPr sz="1400" b="1" dirty="0">
                <a:solidFill>
                  <a:srgbClr val="1A1A1A"/>
                </a:solidFill>
                <a:latin typeface="Arial"/>
              </a:rPr>
              <a:t>Only 0.5% of Clinic 5 attendances arrived via ED 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(40 of 7,896 over six months) </a:t>
            </a:r>
            <a:r>
              <a:rPr lang="en-GB" sz="1400" dirty="0">
                <a:solidFill>
                  <a:srgbClr val="1A1A1A"/>
                </a:solidFill>
                <a:latin typeface="Arial"/>
              </a:rPr>
              <a:t>–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 </a:t>
            </a:r>
            <a:r>
              <a:rPr lang="en-GB" sz="1400" b="0" dirty="0">
                <a:solidFill>
                  <a:srgbClr val="1A1A1A"/>
                </a:solidFill>
                <a:latin typeface="Arial"/>
              </a:rPr>
              <a:t>explained by limits on direct streaming from ED (Type 1 attendance) where clinic is now structured for hot clinics rather than open SDEC appointment slots.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Wingdings" pitchFamily="2" charset="2"/>
              <a:buChar char="Ø"/>
            </a:pPr>
            <a:r>
              <a:rPr sz="1400" b="1" dirty="0">
                <a:solidFill>
                  <a:srgbClr val="1A1A1A"/>
                </a:solidFill>
                <a:latin typeface="Arial"/>
              </a:rPr>
              <a:t>DVT Clinic is ~99.5% non-ED 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(GP/</a:t>
            </a:r>
            <a:r>
              <a:rPr lang="en-GB" sz="1400" dirty="0">
                <a:solidFill>
                  <a:srgbClr val="1A1A1A"/>
                </a:solidFill>
                <a:latin typeface="Arial"/>
              </a:rPr>
              <a:t>O</a:t>
            </a:r>
            <a:r>
              <a:rPr sz="1400" b="0" dirty="0" err="1">
                <a:solidFill>
                  <a:srgbClr val="1A1A1A"/>
                </a:solidFill>
                <a:latin typeface="Arial"/>
              </a:rPr>
              <a:t>utpatient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 referral pathway)</a:t>
            </a:r>
            <a:r>
              <a:rPr lang="en-GB" sz="1400" dirty="0">
                <a:solidFill>
                  <a:srgbClr val="1A1A1A"/>
                </a:solidFill>
                <a:latin typeface="Arial"/>
              </a:rPr>
              <a:t> in line with service configuration</a:t>
            </a:r>
            <a:endParaRPr lang="en-GB" sz="1400" b="0" dirty="0">
              <a:solidFill>
                <a:srgbClr val="1A1A1A"/>
              </a:solidFill>
              <a:latin typeface="Arial"/>
            </a:endParaRPr>
          </a:p>
        </p:txBody>
      </p:sp>
      <p:pic>
        <p:nvPicPr>
          <p:cNvPr id="6" name="Picture 5" descr="chart_clini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414" y="2545203"/>
            <a:ext cx="5702850" cy="27051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4735" y="6501669"/>
            <a:ext cx="72778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5F63"/>
                </a:solidFill>
                <a:latin typeface="Arial"/>
              </a:rPr>
              <a:t>Source: Trust attendance data by departure date, Jan–Jul 2026; ED-prior referral-source breakdown.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>
            <a:spAutoFit/>
          </a:bodyPr>
          <a:lstStyle/>
          <a:p>
            <a:pPr>
              <a:buNone/>
            </a:pPr>
            <a:r>
              <a:rPr lang="en-US" dirty="0"/>
              <a:t>Resolving actual or perceived blockers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SDEC CAPACITY &amp; ED STREAMING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Next steps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141CFF-2B5B-6210-7C2A-9573E0661692}"/>
              </a:ext>
            </a:extLst>
          </p:cNvPr>
          <p:cNvSpPr txBox="1"/>
          <p:nvPr/>
        </p:nvSpPr>
        <p:spPr>
          <a:xfrm>
            <a:off x="754380" y="1931670"/>
            <a:ext cx="4697730" cy="400708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Meeting between ED / EAU teams to resolve capacity issues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SAU – excess capacity to be discussed or escalated</a:t>
            </a:r>
            <a:r>
              <a:rPr lang="en-US" sz="1600"/>
              <a:t>. </a:t>
            </a:r>
            <a:endParaRPr lang="en-US" sz="1600" dirty="0"/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Service Ops Managers – sense check data against known operational and workforce driven gaps.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Flow </a:t>
            </a:r>
            <a:r>
              <a:rPr lang="en-US" sz="1600" dirty="0" err="1"/>
              <a:t>Programme</a:t>
            </a:r>
            <a:r>
              <a:rPr lang="en-US" sz="1600" dirty="0"/>
              <a:t> – include as a risk/blocker in </a:t>
            </a:r>
            <a:r>
              <a:rPr lang="en-US" sz="1600" dirty="0" err="1"/>
              <a:t>programme</a:t>
            </a:r>
            <a:r>
              <a:rPr lang="en-US" sz="1600" dirty="0"/>
              <a:t> reporting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Messaging to ED medics?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Possible to re-introduce streaming to Clinic 5?</a:t>
            </a:r>
          </a:p>
        </p:txBody>
      </p:sp>
    </p:spTree>
    <p:extLst>
      <p:ext uri="{BB962C8B-B14F-4D97-AF65-F5344CB8AC3E}">
        <p14:creationId xmlns:p14="http://schemas.microsoft.com/office/powerpoint/2010/main" val="16503252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1D9A78"/>
      </a:accent1>
      <a:accent2>
        <a:srgbClr val="8BC145"/>
      </a:accent2>
      <a:accent3>
        <a:srgbClr val="0067A4"/>
      </a:accent3>
      <a:accent4>
        <a:srgbClr val="36AFCE"/>
      </a:accent4>
      <a:accent5>
        <a:srgbClr val="B74919"/>
      </a:accent5>
      <a:accent6>
        <a:srgbClr val="F19D19"/>
      </a:accent6>
      <a:hlink>
        <a:srgbClr val="0000FF"/>
      </a:hlink>
      <a:folHlink>
        <a:srgbClr val="800080"/>
      </a:folHlink>
    </a:clrScheme>
    <a:fontScheme name="Custom 17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1D9A78"/>
        </a:accent1>
        <a:accent2>
          <a:srgbClr val="8BC145"/>
        </a:accent2>
        <a:accent3>
          <a:srgbClr val="0067A4"/>
        </a:accent3>
        <a:accent4>
          <a:srgbClr val="36AFCE"/>
        </a:accent4>
        <a:accent5>
          <a:srgbClr val="B74919"/>
        </a:accent5>
        <a:accent6>
          <a:srgbClr val="F19D19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Custom Color6">
      <a:srgbClr val="E6EEEC"/>
    </a:custClr>
    <a:custClr name="Custom Color7">
      <a:srgbClr val="1D6FA9"/>
    </a:custClr>
  </a:custClrLst>
  <a:extLst>
    <a:ext uri="{05A4C25C-085E-4340-85A3-A5531E510DB2}">
      <thm15:themeFamily xmlns:thm15="http://schemas.microsoft.com/office/thememl/2012/main" name="6981RG01_CF_16x9_ENG_V2" id="{CB501291-505F-41FD-ABFB-2C13BE71B927}" vid="{89C043D2-9FB0-4FCA-9135-BBF6895017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EAD2035-59C1-1446-842F-82C6B8CEC816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f145d03f-31d4-4296-b187-72a0d6a2f72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ee2fa5d-98f7-432a-abfd-9128ec28495e">
      <Terms xmlns="http://schemas.microsoft.com/office/infopath/2007/PartnerControls"/>
    </lcf76f155ced4ddcb4097134ff3c332f>
    <Asset_x0020_Owner xmlns="0e744662-f070-459b-a36f-59a98771633f">
      <UserInfo>
        <DisplayName/>
        <AccountId xsi:nil="true"/>
        <AccountType/>
      </UserInfo>
    </Asset_x0020_Owner>
    <TaxCatchAll xmlns="a2f3470d-81da-4c1f-b415-dc92295e9917" xsi:nil="true"/>
  </documentManagement>
</p:properties>
</file>

<file path=customXml/item2.xml><?xml version="1.0" encoding="utf-8"?>
<?mso-contentType ?>
<SharedContentType xmlns="Microsoft.SharePoint.Taxonomy.ContentTypeSync" SourceId="44cf386a-816e-44d4-81d6-0c77207f2f4a" ContentTypeId="0x0101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DEB58572DC504FB7FFA9ED7635EFF9" ma:contentTypeVersion="12" ma:contentTypeDescription="Create a new document." ma:contentTypeScope="" ma:versionID="8c2e169c728089ce9ef8996776bae877">
  <xsd:schema xmlns:xsd="http://www.w3.org/2001/XMLSchema" xmlns:xs="http://www.w3.org/2001/XMLSchema" xmlns:p="http://schemas.microsoft.com/office/2006/metadata/properties" xmlns:ns2="0e744662-f070-459b-a36f-59a98771633f" xmlns:ns3="dee2fa5d-98f7-432a-abfd-9128ec28495e" xmlns:ns4="a2f3470d-81da-4c1f-b415-dc92295e9917" targetNamespace="http://schemas.microsoft.com/office/2006/metadata/properties" ma:root="true" ma:fieldsID="601dbe53352161319e39ba7c3dbe4ab9" ns2:_="" ns3:_="" ns4:_="">
    <xsd:import namespace="0e744662-f070-459b-a36f-59a98771633f"/>
    <xsd:import namespace="dee2fa5d-98f7-432a-abfd-9128ec28495e"/>
    <xsd:import namespace="a2f3470d-81da-4c1f-b415-dc92295e9917"/>
    <xsd:element name="properties">
      <xsd:complexType>
        <xsd:sequence>
          <xsd:element name="documentManagement">
            <xsd:complexType>
              <xsd:all>
                <xsd:element ref="ns2:Asset_x0020_Owner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4:TaxCatchAll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Metadata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744662-f070-459b-a36f-59a98771633f" elementFormDefault="qualified">
    <xsd:import namespace="http://schemas.microsoft.com/office/2006/documentManagement/types"/>
    <xsd:import namespace="http://schemas.microsoft.com/office/infopath/2007/PartnerControls"/>
    <xsd:element name="Asset_x0020_Owner" ma:index="8" nillable="true" ma:displayName="Asset Owner" ma:list="UserInfo" ma:internalName="Asset_x0020_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e2fa5d-98f7-432a-abfd-9128ec28495e" elementFormDefault="qualified">
    <xsd:import namespace="http://schemas.microsoft.com/office/2006/documentManagement/types"/>
    <xsd:import namespace="http://schemas.microsoft.com/office/infopath/2007/PartnerControls"/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4cf386a-816e-44d4-81d6-0c77207f2f4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Metadata" ma:index="18" nillable="true" ma:displayName="MediaServiceMetadata" ma:hidden="true" ma:internalName="MediaServiceMetadata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f3470d-81da-4c1f-b415-dc92295e991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12ceadb-4dda-4cc9-8552-226d91839396}" ma:internalName="TaxCatchAll" ma:showField="CatchAllData" ma:web="a2f3470d-81da-4c1f-b415-dc92295e99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E52C7F-E8D2-496A-BF9A-4A362AC9C80F}">
  <ds:schemaRefs>
    <ds:schemaRef ds:uri="http://purl.org/dc/dcmitype/"/>
    <ds:schemaRef ds:uri="0e744662-f070-459b-a36f-59a98771633f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  <ds:schemaRef ds:uri="a2f3470d-81da-4c1f-b415-dc92295e9917"/>
    <ds:schemaRef ds:uri="http://schemas.microsoft.com/office/2006/documentManagement/types"/>
    <ds:schemaRef ds:uri="dee2fa5d-98f7-432a-abfd-9128ec28495e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5663A5D-BE1E-4E5F-8B41-F41C866D4545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DDE5560A-529C-4FDD-9988-444B2BAEB7A1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005EF9D7-71D5-4C7D-A5EE-2D2FD43864F3}">
  <ds:schemaRefs>
    <ds:schemaRef ds:uri="0e744662-f070-459b-a36f-59a98771633f"/>
    <ds:schemaRef ds:uri="a2f3470d-81da-4c1f-b415-dc92295e9917"/>
    <ds:schemaRef ds:uri="dee2fa5d-98f7-432a-abfd-9128ec28495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14893</TotalTime>
  <Words>822</Words>
  <Application>Microsoft Macintosh PowerPoint</Application>
  <PresentationFormat>Widescreen</PresentationFormat>
  <Paragraphs>62</Paragraphs>
  <Slides>6</Slides>
  <Notes>1</Notes>
  <HiddenSlides>1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Segoe UI</vt:lpstr>
      <vt:lpstr>Wingdings</vt:lpstr>
      <vt:lpstr>White</vt:lpstr>
      <vt:lpstr>think-cell Slide</vt:lpstr>
      <vt:lpstr>SDEC Capacity &amp; ED Streaming: Data Analysis</vt:lpstr>
      <vt:lpstr>SDEC Capacity exists, but it’s limited in some services</vt:lpstr>
      <vt:lpstr>Data shows SAU presents an opportunity for increased surgical take</vt:lpstr>
      <vt:lpstr>EAU3 has real daytime capacity with EAU4 operating at capacity</vt:lpstr>
      <vt:lpstr>Clinic 5 &amp; DVT: a different model, and a data gap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Joshua Gavzey</cp:lastModifiedBy>
  <cp:revision>39</cp:revision>
  <dcterms:created xsi:type="dcterms:W3CDTF">2026-06-08T09:20:32Z</dcterms:created>
  <dcterms:modified xsi:type="dcterms:W3CDTF">2026-07-22T14:01:23Z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0x0101003DDEB58572DC504FB7FFA9ED7635EFF9</vt:lpwstr>
  </property>
  <property fmtid="{D5CDD505-2E9C-101B-9397-08002B2CF9AE}" pid="3" name="MediaServiceImageTags">
    <vt:lpwstr/>
  </property>
</Properties>
</file>